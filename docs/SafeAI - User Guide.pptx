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73" r:id="rId7"/>
    <p:sldId id="259" r:id="rId8"/>
    <p:sldId id="272" r:id="rId9"/>
    <p:sldId id="25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271172-3670-5424-AD30-E7914C8F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665BBC6-4B8D-5D9E-7F57-3AC76ABFD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92CE90-8954-FA49-48A7-0AD194FC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72B0DA7-F717-AF02-3ECA-6313E73A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A70E64-D6C2-FE98-8743-EEAEE007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190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13DD0D-E06E-8C31-9A14-1AB05092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BC1B4CE-1D81-2F9F-EFD9-E9510518B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FE1FCD-6836-8DA3-551C-10E05CAA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63BA93-BA29-95DD-2CC1-3A79300E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3D9DA0-323D-C1D8-DFCD-41C9C78A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670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536AF4-9F96-1A60-3102-51F4E773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1494558-0784-221D-255E-0474A7B9F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D45847-0DBF-15A5-B3CD-40CD9549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A33BA4-1DDD-7527-1E50-804DBEF9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D28596-9DC6-3205-6F4A-FBF2EE13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19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CFDFB9-83C7-22A7-B9F1-2EF82D5C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0EE466-A857-2D27-7739-3B8ABCCE3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AE5F56C-BF40-7708-77BB-2692A7D22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A859D8C-7F9A-24AF-2B62-7B934397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228721E-C12B-4DEB-CE2C-0B9F6FA5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707208-BE44-B66D-70B6-0D28CBB8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38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9DCCE7-78DE-AEFA-B531-2AFFE5CC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08E4432-D029-DFDF-B861-FFA89C5D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53E7CE0-2848-861D-797D-7656C0BE3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B5EB675-5AE4-7AA4-1A99-3A34E3D79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C0458CE-8E91-D753-8BBB-03BF6CB73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46E465B-454A-AB19-5A1D-DC7CA10A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A6F4E0F-8BB4-6BB2-15BE-27A18191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3094853-777A-E280-605C-1CBBDA66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156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7564EE-DD2F-7D18-6695-235E0600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97A4792-648C-3CD3-716B-D94FAC2C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C92AC0D-7C7F-3442-59FF-31D0DCCE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4B8B032-01AD-8C48-981F-98D0DA99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230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3C86840-F021-6CC0-C384-46C0AFED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6EA9362-2988-3376-3CEF-DF0F50F2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70E4270-0BF5-C41A-35F3-9D5450D3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0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684360-D2D2-3B09-3CB4-005CAFCF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7189B0-FA19-F6A7-AE81-B89B25C3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5D4EC6A-2536-5810-280B-329601D2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52322D1-61AB-6639-5D75-1A119EC0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2478BC7-11A3-F3E9-EF5E-155FE55D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A2C882C-2082-0007-60A0-55B8F042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174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84C04D-6CD7-BDA8-BA2C-79B217EE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124350D-2CC5-F149-9FC9-B640A25E3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F7ABC80-DB85-D4AC-4AA2-85DAC064D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43A0AE9-8868-AFA2-2719-8CBB28C1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987820B-EACF-D214-0D9A-2CA8D39C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D5BA8D5-D60B-9AA8-4837-A21D0E6D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328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F0525D-EBF8-68DF-0327-D4EE8A91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98EA24-A4E5-4409-AFB1-1B3774CE3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98BEEA-D721-EA69-0C27-2C571D1D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7B5267-7FEC-1CFB-90EB-2506A8FF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949071F-5956-B91D-A9A6-45A830C1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46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6217F6F-0984-6219-0AB0-EA214FDFC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5D2EDF7-1EF8-5C9E-14A2-47463EF22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EC2D493-0124-7621-C139-85914736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6153A9-ECEA-ED24-90A5-7E149A1F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A3280AA-600C-234F-F06F-7E9023A0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33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F9BA9DC-1E53-1A14-6E7B-0BFC267E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CCE205-DB5A-C399-8022-3D082509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0FBA79F-C8F8-2A48-E346-0E01C10C1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8C61C-D86A-4957-9330-9D3F30E90D1E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2977AFF-617F-5748-5CAA-92E8D635E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01F48-CC5E-8432-5BF6-40C58F11A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02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upload.wikimedia.org/wikipedia/commons/8/8a/Google_Gemini_logo.sv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054E13-F9F1-29B0-02E3-9779240F1F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SafeAI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IL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7F6A9F0-259A-E1E8-5960-6B26763AC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611563"/>
            <a:ext cx="9144000" cy="1655762"/>
          </a:xfrm>
        </p:spPr>
        <p:txBody>
          <a:bodyPr/>
          <a:lstStyle/>
          <a:p>
            <a:r>
              <a:rPr lang="he-I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פתרונות בטוחים לשימוש ב-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endParaRPr lang="he-IL" sz="2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4F8E5EE9-A89D-BD6F-3387-F2784B91AD0C}"/>
              </a:ext>
            </a:extLst>
          </p:cNvPr>
          <p:cNvGrpSpPr/>
          <p:nvPr/>
        </p:nvGrpSpPr>
        <p:grpSpPr>
          <a:xfrm>
            <a:off x="4349740" y="2530174"/>
            <a:ext cx="507629" cy="832151"/>
            <a:chOff x="3426282" y="1664208"/>
            <a:chExt cx="1221587" cy="2002536"/>
          </a:xfrm>
        </p:grpSpPr>
        <p:sp>
          <p:nvSpPr>
            <p:cNvPr id="4" name="צורה חופשית: צורה 3">
              <a:extLst>
                <a:ext uri="{FF2B5EF4-FFF2-40B4-BE49-F238E27FC236}">
                  <a16:creationId xmlns:a16="http://schemas.microsoft.com/office/drawing/2014/main" id="{6DA3193A-0072-814A-3DA0-A3AF2808C821}"/>
                </a:ext>
              </a:extLst>
            </p:cNvPr>
            <p:cNvSpPr/>
            <p:nvPr/>
          </p:nvSpPr>
          <p:spPr>
            <a:xfrm>
              <a:off x="3904488" y="1664208"/>
              <a:ext cx="743381" cy="2002536"/>
            </a:xfrm>
            <a:custGeom>
              <a:avLst/>
              <a:gdLst>
                <a:gd name="csX0" fmla="*/ 0 w 651941"/>
                <a:gd name="csY0" fmla="*/ 0 h 2002536"/>
                <a:gd name="csX1" fmla="*/ 128016 w 651941"/>
                <a:gd name="csY1" fmla="*/ 274320 h 2002536"/>
                <a:gd name="csX2" fmla="*/ 594360 w 651941"/>
                <a:gd name="csY2" fmla="*/ 429768 h 2002536"/>
                <a:gd name="csX3" fmla="*/ 630936 w 651941"/>
                <a:gd name="csY3" fmla="*/ 484632 h 2002536"/>
                <a:gd name="csX4" fmla="*/ 612648 w 651941"/>
                <a:gd name="csY4" fmla="*/ 804672 h 2002536"/>
                <a:gd name="csX5" fmla="*/ 612648 w 651941"/>
                <a:gd name="csY5" fmla="*/ 1325880 h 2002536"/>
                <a:gd name="csX6" fmla="*/ 73152 w 651941"/>
                <a:gd name="csY6" fmla="*/ 1856232 h 2002536"/>
                <a:gd name="csX7" fmla="*/ 73152 w 651941"/>
                <a:gd name="csY7" fmla="*/ 1856232 h 2002536"/>
                <a:gd name="csX8" fmla="*/ 45720 w 651941"/>
                <a:gd name="csY8" fmla="*/ 2002536 h 20025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51941" h="2002536">
                  <a:moveTo>
                    <a:pt x="0" y="0"/>
                  </a:moveTo>
                  <a:cubicBezTo>
                    <a:pt x="14478" y="101346"/>
                    <a:pt x="28956" y="202692"/>
                    <a:pt x="128016" y="274320"/>
                  </a:cubicBezTo>
                  <a:cubicBezTo>
                    <a:pt x="227076" y="345948"/>
                    <a:pt x="510540" y="394716"/>
                    <a:pt x="594360" y="429768"/>
                  </a:cubicBezTo>
                  <a:cubicBezTo>
                    <a:pt x="678180" y="464820"/>
                    <a:pt x="627888" y="422148"/>
                    <a:pt x="630936" y="484632"/>
                  </a:cubicBezTo>
                  <a:cubicBezTo>
                    <a:pt x="633984" y="547116"/>
                    <a:pt x="615696" y="664464"/>
                    <a:pt x="612648" y="804672"/>
                  </a:cubicBezTo>
                  <a:cubicBezTo>
                    <a:pt x="609600" y="944880"/>
                    <a:pt x="702564" y="1150620"/>
                    <a:pt x="612648" y="1325880"/>
                  </a:cubicBezTo>
                  <a:cubicBezTo>
                    <a:pt x="522732" y="1501140"/>
                    <a:pt x="73152" y="1856232"/>
                    <a:pt x="73152" y="1856232"/>
                  </a:cubicBezTo>
                  <a:lnTo>
                    <a:pt x="73152" y="1856232"/>
                  </a:lnTo>
                  <a:lnTo>
                    <a:pt x="45720" y="200253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5" name="צורה חופשית: צורה 4">
              <a:extLst>
                <a:ext uri="{FF2B5EF4-FFF2-40B4-BE49-F238E27FC236}">
                  <a16:creationId xmlns:a16="http://schemas.microsoft.com/office/drawing/2014/main" id="{ECA03EB5-0336-49F1-CF44-CFBBC6029FF1}"/>
                </a:ext>
              </a:extLst>
            </p:cNvPr>
            <p:cNvSpPr/>
            <p:nvPr/>
          </p:nvSpPr>
          <p:spPr>
            <a:xfrm flipH="1">
              <a:off x="3426282" y="1664208"/>
              <a:ext cx="743382" cy="2002536"/>
            </a:xfrm>
            <a:custGeom>
              <a:avLst/>
              <a:gdLst>
                <a:gd name="csX0" fmla="*/ 0 w 651941"/>
                <a:gd name="csY0" fmla="*/ 0 h 2002536"/>
                <a:gd name="csX1" fmla="*/ 128016 w 651941"/>
                <a:gd name="csY1" fmla="*/ 274320 h 2002536"/>
                <a:gd name="csX2" fmla="*/ 594360 w 651941"/>
                <a:gd name="csY2" fmla="*/ 429768 h 2002536"/>
                <a:gd name="csX3" fmla="*/ 630936 w 651941"/>
                <a:gd name="csY3" fmla="*/ 484632 h 2002536"/>
                <a:gd name="csX4" fmla="*/ 612648 w 651941"/>
                <a:gd name="csY4" fmla="*/ 804672 h 2002536"/>
                <a:gd name="csX5" fmla="*/ 612648 w 651941"/>
                <a:gd name="csY5" fmla="*/ 1325880 h 2002536"/>
                <a:gd name="csX6" fmla="*/ 73152 w 651941"/>
                <a:gd name="csY6" fmla="*/ 1856232 h 2002536"/>
                <a:gd name="csX7" fmla="*/ 73152 w 651941"/>
                <a:gd name="csY7" fmla="*/ 1856232 h 2002536"/>
                <a:gd name="csX8" fmla="*/ 45720 w 651941"/>
                <a:gd name="csY8" fmla="*/ 2002536 h 20025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51941" h="2002536">
                  <a:moveTo>
                    <a:pt x="0" y="0"/>
                  </a:moveTo>
                  <a:cubicBezTo>
                    <a:pt x="14478" y="101346"/>
                    <a:pt x="28956" y="202692"/>
                    <a:pt x="128016" y="274320"/>
                  </a:cubicBezTo>
                  <a:cubicBezTo>
                    <a:pt x="227076" y="345948"/>
                    <a:pt x="510540" y="394716"/>
                    <a:pt x="594360" y="429768"/>
                  </a:cubicBezTo>
                  <a:cubicBezTo>
                    <a:pt x="678180" y="464820"/>
                    <a:pt x="627888" y="422148"/>
                    <a:pt x="630936" y="484632"/>
                  </a:cubicBezTo>
                  <a:cubicBezTo>
                    <a:pt x="633984" y="547116"/>
                    <a:pt x="615696" y="664464"/>
                    <a:pt x="612648" y="804672"/>
                  </a:cubicBezTo>
                  <a:cubicBezTo>
                    <a:pt x="609600" y="944880"/>
                    <a:pt x="702564" y="1150620"/>
                    <a:pt x="612648" y="1325880"/>
                  </a:cubicBezTo>
                  <a:cubicBezTo>
                    <a:pt x="522732" y="1501140"/>
                    <a:pt x="73152" y="1856232"/>
                    <a:pt x="73152" y="1856232"/>
                  </a:cubicBezTo>
                  <a:lnTo>
                    <a:pt x="73152" y="1856232"/>
                  </a:lnTo>
                  <a:lnTo>
                    <a:pt x="45720" y="200253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F5A5448D-FA4B-BDA2-8F60-D35207A8339B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8" name="קבוצה 7">
              <a:extLst>
                <a:ext uri="{FF2B5EF4-FFF2-40B4-BE49-F238E27FC236}">
                  <a16:creationId xmlns:a16="http://schemas.microsoft.com/office/drawing/2014/main" id="{A3E2F0C6-3356-1FE5-6DF4-F51DFE95FAB7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9" name="צורה חופשית: צורה 8">
                <a:extLst>
                  <a:ext uri="{FF2B5EF4-FFF2-40B4-BE49-F238E27FC236}">
                    <a16:creationId xmlns:a16="http://schemas.microsoft.com/office/drawing/2014/main" id="{D9584C49-AFE9-0531-BFDE-84E0CF546BB6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10" name="צורה חופשית: צורה 9">
                <a:extLst>
                  <a:ext uri="{FF2B5EF4-FFF2-40B4-BE49-F238E27FC236}">
                    <a16:creationId xmlns:a16="http://schemas.microsoft.com/office/drawing/2014/main" id="{CED4D791-4686-70CB-B0F2-44F520D62237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AD914098-C498-CDEE-B422-95166FC0789E}"/>
                </a:ext>
              </a:extLst>
            </p:cNvPr>
            <p:cNvSpPr txBox="1"/>
            <p:nvPr/>
          </p:nvSpPr>
          <p:spPr>
            <a:xfrm>
              <a:off x="11496032" y="278144"/>
              <a:ext cx="37078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85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083D698-B003-732A-0784-EEE6299A5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59" y="299592"/>
            <a:ext cx="5200939" cy="2986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68A0C294-78F0-DAA9-5E05-3A4E95699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99592"/>
            <a:ext cx="4974166" cy="3207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1E27980-C401-F756-7C8E-82BC1134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65" y="3885997"/>
            <a:ext cx="5044325" cy="2672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12D41718-6442-C213-3CEF-231736E5E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136" y="3885997"/>
            <a:ext cx="4983905" cy="2672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35B2C6C5-E293-1A19-6EA5-5A59C6B0E13D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מבט לפיתוח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41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70EE8E0-5813-4852-39B5-6F0239C7E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779" y="3952869"/>
            <a:ext cx="3739901" cy="2564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39E636D-725A-F277-E5F9-379A40062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4" r="1567"/>
          <a:stretch>
            <a:fillRect/>
          </a:stretch>
        </p:blipFill>
        <p:spPr>
          <a:xfrm>
            <a:off x="7990191" y="804468"/>
            <a:ext cx="3914489" cy="2167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B4BFE2A-73F8-B3BA-7E06-598D0D50B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491" y="4038600"/>
            <a:ext cx="3981958" cy="2564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3B2E710F-5E54-C05C-615E-BB6CB46422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14" r="5506"/>
          <a:stretch>
            <a:fillRect/>
          </a:stretch>
        </p:blipFill>
        <p:spPr>
          <a:xfrm>
            <a:off x="4105275" y="1018363"/>
            <a:ext cx="3590925" cy="2410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26EDBEF-6B93-E8B0-7149-29D5B7F30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975" y="890193"/>
            <a:ext cx="3590925" cy="1298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EC46082F-11C5-9F87-2393-A3A80CECD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975" y="2761439"/>
            <a:ext cx="3570115" cy="2765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מלבן 13">
            <a:extLst>
              <a:ext uri="{FF2B5EF4-FFF2-40B4-BE49-F238E27FC236}">
                <a16:creationId xmlns:a16="http://schemas.microsoft.com/office/drawing/2014/main" id="{C87358DE-931A-C340-AF9D-11E344DD507F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הצצה לפרויקטים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63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2FE7-73BC-B0DA-8749-E4FEAD98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58EF626C-D86F-52A4-2CF4-7B28FF65FC02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מושגים ב-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C9F5BFE-03F5-4EAD-5096-756960CB95CA}"/>
              </a:ext>
            </a:extLst>
          </p:cNvPr>
          <p:cNvSpPr txBox="1"/>
          <p:nvPr/>
        </p:nvSpPr>
        <p:spPr>
          <a:xfrm>
            <a:off x="10401896" y="5270944"/>
            <a:ext cx="1651414" cy="1477328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e-IL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מוצר קצה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LLM</a:t>
            </a:r>
            <a:r>
              <a:rPr lang="he-IL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מודל</a:t>
            </a:r>
            <a:endParaRPr lang="en-US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e-IL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ספק</a:t>
            </a:r>
          </a:p>
          <a:p>
            <a:pPr marL="342900" indent="-342900">
              <a:buFont typeface="+mj-lt"/>
              <a:buAutoNum type="arabicPeriod"/>
            </a:pPr>
            <a:r>
              <a:rPr lang="he-IL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פלטפורמה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apikey</a:t>
            </a:r>
            <a:endParaRPr lang="he-IL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D89F030-8972-D6FC-FBDC-D170CA80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995"/>
          <a:stretch>
            <a:fillRect/>
          </a:stretch>
        </p:blipFill>
        <p:spPr>
          <a:xfrm>
            <a:off x="1317480" y="1170583"/>
            <a:ext cx="10040751" cy="374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75F6-3D4B-0C76-8A4B-43DDF18B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9F11845F-4144-0948-404E-3F110CDA284D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סקיצה של פתרון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1924ABAD-7B4E-6012-ECAD-176D34EC8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994A0FE-D0FC-1671-7445-01EFB797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675938"/>
            <a:ext cx="8792802" cy="4820323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BC3F204-5B74-7A17-B093-61F1AF78A366}"/>
              </a:ext>
            </a:extLst>
          </p:cNvPr>
          <p:cNvSpPr txBox="1"/>
          <p:nvPr/>
        </p:nvSpPr>
        <p:spPr>
          <a:xfrm>
            <a:off x="1268396" y="5756753"/>
            <a:ext cx="9655207" cy="338554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he-IL" sz="1600" dirty="0">
                <a:latin typeface="Segoe UI" panose="020B0502040204020203" pitchFamily="34" charset="0"/>
                <a:cs typeface="Segoe UI" panose="020B0502040204020203" pitchFamily="34" charset="0"/>
              </a:rPr>
              <a:t>שאלה -&gt;    בדיקת התאמה לפרופיל  -&gt;  יצירת הנחיות מותאמות פרופיל  -&gt;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e-IL" sz="1600" dirty="0">
                <a:latin typeface="Segoe UI" panose="020B0502040204020203" pitchFamily="34" charset="0"/>
                <a:cs typeface="Segoe UI" panose="020B0502040204020203" pitchFamily="34" charset="0"/>
              </a:rPr>
              <a:t> מעבר לספק  -&gt;  תשובה בטוחה</a:t>
            </a:r>
            <a:endParaRPr lang="en-I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B9E1588-B315-CFF2-867B-14BD770ED85B}"/>
              </a:ext>
            </a:extLst>
          </p:cNvPr>
          <p:cNvSpPr txBox="1"/>
          <p:nvPr/>
        </p:nvSpPr>
        <p:spPr>
          <a:xfrm>
            <a:off x="1417475" y="6355799"/>
            <a:ext cx="9506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 dirty="0">
                <a:latin typeface="Segoe UI" panose="020B0502040204020203" pitchFamily="34" charset="0"/>
                <a:cs typeface="Segoe UI" panose="020B0502040204020203" pitchFamily="34" charset="0"/>
              </a:rPr>
              <a:t>נכון לעכשיו - כדי להגיע לחסימה עד כמה שאפשר הרמטית – יש לסגור כל יכולת תקשורת ישירה עם הספקים</a:t>
            </a:r>
            <a:endParaRPr lang="en-I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054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EC273CA7-3B2A-CA23-BB6E-D2C50B072D83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סקיצה של פתרון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FBD9752-AC26-F6E9-397D-3CB25457A044}"/>
              </a:ext>
            </a:extLst>
          </p:cNvPr>
          <p:cNvSpPr txBox="1"/>
          <p:nvPr/>
        </p:nvSpPr>
        <p:spPr>
          <a:xfrm>
            <a:off x="1046692" y="949923"/>
            <a:ext cx="4950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מנגנון </a:t>
            </a:r>
            <a:r>
              <a:rPr lang="he-IL" sz="2400" b="1" dirty="0" err="1"/>
              <a:t>פרוקסי</a:t>
            </a:r>
            <a:r>
              <a:rPr lang="he-IL" sz="2400" dirty="0"/>
              <a:t> - חשבון | פרופיל | </a:t>
            </a:r>
            <a:r>
              <a:rPr lang="en-US" sz="2400" dirty="0" err="1"/>
              <a:t>apikey</a:t>
            </a:r>
            <a:endParaRPr lang="en-IL" sz="24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C60D307-56CA-F3F0-6CFE-EF0AE1F2EBC5}"/>
              </a:ext>
            </a:extLst>
          </p:cNvPr>
          <p:cNvSpPr txBox="1"/>
          <p:nvPr/>
        </p:nvSpPr>
        <p:spPr>
          <a:xfrm>
            <a:off x="8974764" y="922204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b="1" dirty="0"/>
              <a:t>מנגנון סינון - פרופיל </a:t>
            </a:r>
            <a:endParaRPr lang="en-IL" sz="2400" b="1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9DEE9F4-6539-DBF8-41E8-C9C1636B562A}"/>
              </a:ext>
            </a:extLst>
          </p:cNvPr>
          <p:cNvSpPr txBox="1"/>
          <p:nvPr/>
        </p:nvSpPr>
        <p:spPr>
          <a:xfrm>
            <a:off x="9063838" y="4060978"/>
            <a:ext cx="2820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מוצרים עם סינון פנימי </a:t>
            </a:r>
            <a:endParaRPr lang="en-IL" sz="24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727372F4-4CD3-B857-F875-ECF05020D13D}"/>
              </a:ext>
            </a:extLst>
          </p:cNvPr>
          <p:cNvSpPr txBox="1"/>
          <p:nvPr/>
        </p:nvSpPr>
        <p:spPr>
          <a:xfrm>
            <a:off x="1717239" y="4563023"/>
            <a:ext cx="3518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מוצרי עם </a:t>
            </a:r>
            <a:r>
              <a:rPr lang="he-IL" sz="2400" dirty="0" err="1"/>
              <a:t>פרוקסי</a:t>
            </a:r>
            <a:r>
              <a:rPr lang="he-IL" sz="2400" dirty="0"/>
              <a:t> בתוך הקוד</a:t>
            </a:r>
            <a:endParaRPr lang="en-IL" sz="24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84311F2-6416-4BAC-578B-7B4E4D3504D5}"/>
              </a:ext>
            </a:extLst>
          </p:cNvPr>
          <p:cNvSpPr txBox="1"/>
          <p:nvPr/>
        </p:nvSpPr>
        <p:spPr>
          <a:xfrm>
            <a:off x="1600221" y="3930473"/>
            <a:ext cx="3635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מוצרי עם </a:t>
            </a:r>
            <a:r>
              <a:rPr lang="he-IL" sz="2400" dirty="0" err="1"/>
              <a:t>פרוקסי</a:t>
            </a:r>
            <a:r>
              <a:rPr lang="he-IL" sz="2400" dirty="0"/>
              <a:t> מחוץ לקוד </a:t>
            </a:r>
            <a:endParaRPr lang="en-IL" sz="24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ECA80FD-3B13-3F4E-F1A4-42B7D617A2D4}"/>
              </a:ext>
            </a:extLst>
          </p:cNvPr>
          <p:cNvSpPr txBox="1"/>
          <p:nvPr/>
        </p:nvSpPr>
        <p:spPr>
          <a:xfrm>
            <a:off x="8959643" y="4655719"/>
            <a:ext cx="2924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מוצרים עם חיבור לסינון</a:t>
            </a:r>
            <a:endParaRPr lang="en-IL" sz="2400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0C5332EB-75B6-0BDF-13C0-C12CF51CFFEC}"/>
              </a:ext>
            </a:extLst>
          </p:cNvPr>
          <p:cNvCxnSpPr>
            <a:cxnSpLocks/>
          </p:cNvCxnSpPr>
          <p:nvPr/>
        </p:nvCxnSpPr>
        <p:spPr>
          <a:xfrm>
            <a:off x="10074456" y="1925337"/>
            <a:ext cx="6452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תמונה 9">
            <a:extLst>
              <a:ext uri="{FF2B5EF4-FFF2-40B4-BE49-F238E27FC236}">
                <a16:creationId xmlns:a16="http://schemas.microsoft.com/office/drawing/2014/main" id="{DD7D7245-0F14-5DCA-12AC-CE4867D7E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1" r="4384"/>
          <a:stretch>
            <a:fillRect/>
          </a:stretch>
        </p:blipFill>
        <p:spPr>
          <a:xfrm>
            <a:off x="9384590" y="2243624"/>
            <a:ext cx="483044" cy="47918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8337E69C-6EC8-E32D-C850-3DBF235D2975}"/>
              </a:ext>
            </a:extLst>
          </p:cNvPr>
          <p:cNvGrpSpPr/>
          <p:nvPr/>
        </p:nvGrpSpPr>
        <p:grpSpPr>
          <a:xfrm>
            <a:off x="9419150" y="1472737"/>
            <a:ext cx="407219" cy="667550"/>
            <a:chOff x="11328926" y="123524"/>
            <a:chExt cx="609312" cy="998839"/>
          </a:xfrm>
        </p:grpSpPr>
        <p:grpSp>
          <p:nvGrpSpPr>
            <p:cNvPr id="12" name="קבוצה 11">
              <a:extLst>
                <a:ext uri="{FF2B5EF4-FFF2-40B4-BE49-F238E27FC236}">
                  <a16:creationId xmlns:a16="http://schemas.microsoft.com/office/drawing/2014/main" id="{88E41EBF-9C4E-B4B4-C573-B39ABCEBFF18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14" name="צורה חופשית: צורה 13">
                <a:extLst>
                  <a:ext uri="{FF2B5EF4-FFF2-40B4-BE49-F238E27FC236}">
                    <a16:creationId xmlns:a16="http://schemas.microsoft.com/office/drawing/2014/main" id="{1E21D0B6-EB19-38D4-9B5A-04850FF85047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15" name="צורה חופשית: צורה 14">
                <a:extLst>
                  <a:ext uri="{FF2B5EF4-FFF2-40B4-BE49-F238E27FC236}">
                    <a16:creationId xmlns:a16="http://schemas.microsoft.com/office/drawing/2014/main" id="{04569222-14F3-64E9-A169-555D7B2F95A6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3C437AE1-A59E-6205-B7F4-405D18A0144F}"/>
                </a:ext>
              </a:extLst>
            </p:cNvPr>
            <p:cNvSpPr txBox="1"/>
            <p:nvPr/>
          </p:nvSpPr>
          <p:spPr>
            <a:xfrm>
              <a:off x="11496032" y="278144"/>
              <a:ext cx="37078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L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C400D65F-84EC-DAE3-374E-E9DBADA8EED9}"/>
              </a:ext>
            </a:extLst>
          </p:cNvPr>
          <p:cNvCxnSpPr>
            <a:cxnSpLocks/>
          </p:cNvCxnSpPr>
          <p:nvPr/>
        </p:nvCxnSpPr>
        <p:spPr>
          <a:xfrm flipH="1">
            <a:off x="10074456" y="1769604"/>
            <a:ext cx="566118" cy="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DB5B7EBF-A9E3-D387-341A-046507707A01}"/>
              </a:ext>
            </a:extLst>
          </p:cNvPr>
          <p:cNvCxnSpPr>
            <a:cxnSpLocks/>
          </p:cNvCxnSpPr>
          <p:nvPr/>
        </p:nvCxnSpPr>
        <p:spPr>
          <a:xfrm flipH="1" flipV="1">
            <a:off x="10074456" y="2330466"/>
            <a:ext cx="580758" cy="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F7D86FEA-03C8-2F3B-6A61-7030FA0E1585}"/>
              </a:ext>
            </a:extLst>
          </p:cNvPr>
          <p:cNvCxnSpPr>
            <a:cxnSpLocks/>
          </p:cNvCxnSpPr>
          <p:nvPr/>
        </p:nvCxnSpPr>
        <p:spPr>
          <a:xfrm flipV="1">
            <a:off x="10128477" y="2489145"/>
            <a:ext cx="512097" cy="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835EB78F-3CF3-4F1C-D7D8-348FCB1FF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036" y="1806512"/>
            <a:ext cx="798927" cy="56321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14FA51D0-7765-9D18-174D-B107937E776F}"/>
              </a:ext>
            </a:extLst>
          </p:cNvPr>
          <p:cNvCxnSpPr>
            <a:cxnSpLocks/>
          </p:cNvCxnSpPr>
          <p:nvPr/>
        </p:nvCxnSpPr>
        <p:spPr>
          <a:xfrm>
            <a:off x="3729586" y="2235008"/>
            <a:ext cx="6452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C0922A18-A3B6-692C-57AB-44297C9A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1" r="4384"/>
          <a:stretch>
            <a:fillRect/>
          </a:stretch>
        </p:blipFill>
        <p:spPr>
          <a:xfrm>
            <a:off x="1749915" y="1898666"/>
            <a:ext cx="483044" cy="47918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99EBA658-D6C6-9410-A93A-0A2C859A4E5B}"/>
              </a:ext>
            </a:extLst>
          </p:cNvPr>
          <p:cNvGrpSpPr/>
          <p:nvPr/>
        </p:nvGrpSpPr>
        <p:grpSpPr>
          <a:xfrm>
            <a:off x="3162560" y="1748953"/>
            <a:ext cx="407219" cy="667550"/>
            <a:chOff x="11328926" y="123524"/>
            <a:chExt cx="609312" cy="998839"/>
          </a:xfrm>
        </p:grpSpPr>
        <p:grpSp>
          <p:nvGrpSpPr>
            <p:cNvPr id="30" name="קבוצה 29">
              <a:extLst>
                <a:ext uri="{FF2B5EF4-FFF2-40B4-BE49-F238E27FC236}">
                  <a16:creationId xmlns:a16="http://schemas.microsoft.com/office/drawing/2014/main" id="{505B5916-3E85-9FC5-A660-E42FCCB3D63E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32" name="צורה חופשית: צורה 31">
                <a:extLst>
                  <a:ext uri="{FF2B5EF4-FFF2-40B4-BE49-F238E27FC236}">
                    <a16:creationId xmlns:a16="http://schemas.microsoft.com/office/drawing/2014/main" id="{9B5D04F2-B52E-DDBD-CC12-C4100C1854E1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33" name="צורה חופשית: צורה 32">
                <a:extLst>
                  <a:ext uri="{FF2B5EF4-FFF2-40B4-BE49-F238E27FC236}">
                    <a16:creationId xmlns:a16="http://schemas.microsoft.com/office/drawing/2014/main" id="{3C922B0E-061E-C19C-A2EF-9C702AC8132B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BD82D8EC-12CB-4ED1-D366-80625AC5689D}"/>
                </a:ext>
              </a:extLst>
            </p:cNvPr>
            <p:cNvSpPr txBox="1"/>
            <p:nvPr/>
          </p:nvSpPr>
          <p:spPr>
            <a:xfrm>
              <a:off x="11496032" y="278144"/>
              <a:ext cx="37078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L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34" name="מחבר חץ ישר 33">
            <a:extLst>
              <a:ext uri="{FF2B5EF4-FFF2-40B4-BE49-F238E27FC236}">
                <a16:creationId xmlns:a16="http://schemas.microsoft.com/office/drawing/2014/main" id="{D6F89203-109E-9BF7-27F2-921222D55929}"/>
              </a:ext>
            </a:extLst>
          </p:cNvPr>
          <p:cNvCxnSpPr>
            <a:cxnSpLocks/>
          </p:cNvCxnSpPr>
          <p:nvPr/>
        </p:nvCxnSpPr>
        <p:spPr>
          <a:xfrm flipH="1">
            <a:off x="3767109" y="2088839"/>
            <a:ext cx="566118" cy="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חץ ישר 34">
            <a:extLst>
              <a:ext uri="{FF2B5EF4-FFF2-40B4-BE49-F238E27FC236}">
                <a16:creationId xmlns:a16="http://schemas.microsoft.com/office/drawing/2014/main" id="{1BDBE52E-CF59-66BF-B304-E1CB1A92E3D8}"/>
              </a:ext>
            </a:extLst>
          </p:cNvPr>
          <p:cNvCxnSpPr>
            <a:cxnSpLocks/>
          </p:cNvCxnSpPr>
          <p:nvPr/>
        </p:nvCxnSpPr>
        <p:spPr>
          <a:xfrm flipH="1" flipV="1">
            <a:off x="2374980" y="2082047"/>
            <a:ext cx="580758" cy="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חץ ישר 35">
            <a:extLst>
              <a:ext uri="{FF2B5EF4-FFF2-40B4-BE49-F238E27FC236}">
                <a16:creationId xmlns:a16="http://schemas.microsoft.com/office/drawing/2014/main" id="{D17FD603-3C53-4165-72D6-FCC4AEBD895A}"/>
              </a:ext>
            </a:extLst>
          </p:cNvPr>
          <p:cNvCxnSpPr>
            <a:cxnSpLocks/>
          </p:cNvCxnSpPr>
          <p:nvPr/>
        </p:nvCxnSpPr>
        <p:spPr>
          <a:xfrm flipV="1">
            <a:off x="2429001" y="2240726"/>
            <a:ext cx="512097" cy="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תמונה 36">
            <a:extLst>
              <a:ext uri="{FF2B5EF4-FFF2-40B4-BE49-F238E27FC236}">
                <a16:creationId xmlns:a16="http://schemas.microsoft.com/office/drawing/2014/main" id="{8313F17B-7E69-120B-9C2D-CE18F86CF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574" y="1886342"/>
            <a:ext cx="798927" cy="56321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0500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BE64A-3F3D-0280-DF71-54024188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חץ ישר 3">
            <a:extLst>
              <a:ext uri="{FF2B5EF4-FFF2-40B4-BE49-F238E27FC236}">
                <a16:creationId xmlns:a16="http://schemas.microsoft.com/office/drawing/2014/main" id="{6CB0A4E6-8362-5B9D-419B-1F9DBF3C6DF6}"/>
              </a:ext>
            </a:extLst>
          </p:cNvPr>
          <p:cNvCxnSpPr>
            <a:cxnSpLocks/>
          </p:cNvCxnSpPr>
          <p:nvPr/>
        </p:nvCxnSpPr>
        <p:spPr>
          <a:xfrm flipH="1">
            <a:off x="6293968" y="2860065"/>
            <a:ext cx="1707032" cy="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מלבן 4">
            <a:extLst>
              <a:ext uri="{FF2B5EF4-FFF2-40B4-BE49-F238E27FC236}">
                <a16:creationId xmlns:a16="http://schemas.microsoft.com/office/drawing/2014/main" id="{9D75A3CE-40AD-FD8A-E7D9-4B745D6883CF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ככה המערכת עובדת: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שווה התייחסות כבן אדם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A17A941-4CFA-9578-34D3-0E4BD1B7A0A0}"/>
              </a:ext>
            </a:extLst>
          </p:cNvPr>
          <p:cNvSpPr txBox="1"/>
          <p:nvPr/>
        </p:nvSpPr>
        <p:spPr>
          <a:xfrm>
            <a:off x="4499843" y="1531505"/>
            <a:ext cx="997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הנחיות</a:t>
            </a:r>
            <a:endParaRPr lang="en-IL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8DDD8879-FCF3-6CDA-456A-D69381F1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1" r="4384"/>
          <a:stretch>
            <a:fillRect/>
          </a:stretch>
        </p:blipFill>
        <p:spPr>
          <a:xfrm>
            <a:off x="3908597" y="2052868"/>
            <a:ext cx="2179882" cy="21624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מחבר: מעוקל 19">
            <a:extLst>
              <a:ext uri="{FF2B5EF4-FFF2-40B4-BE49-F238E27FC236}">
                <a16:creationId xmlns:a16="http://schemas.microsoft.com/office/drawing/2014/main" id="{9523D2DB-6896-4E4C-AB2C-8123D68C1BEB}"/>
              </a:ext>
            </a:extLst>
          </p:cNvPr>
          <p:cNvSpPr/>
          <p:nvPr/>
        </p:nvSpPr>
        <p:spPr>
          <a:xfrm rot="5400000" flipV="1">
            <a:off x="4815640" y="899360"/>
            <a:ext cx="655719" cy="5715000"/>
          </a:xfrm>
          <a:prstGeom prst="curvedConnector3">
            <a:avLst>
              <a:gd name="adj1" fmla="val 393611"/>
            </a:avLst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200E3F39-3EFD-37F2-10F8-064F78EC5F19}"/>
              </a:ext>
            </a:extLst>
          </p:cNvPr>
          <p:cNvGrpSpPr/>
          <p:nvPr/>
        </p:nvGrpSpPr>
        <p:grpSpPr>
          <a:xfrm>
            <a:off x="8138021" y="2530668"/>
            <a:ext cx="925488" cy="704087"/>
            <a:chOff x="8190056" y="1470051"/>
            <a:chExt cx="925488" cy="704087"/>
          </a:xfrm>
        </p:grpSpPr>
        <p:sp>
          <p:nvSpPr>
            <p:cNvPr id="22" name="בועת דיבור: אליפסה 21">
              <a:extLst>
                <a:ext uri="{FF2B5EF4-FFF2-40B4-BE49-F238E27FC236}">
                  <a16:creationId xmlns:a16="http://schemas.microsoft.com/office/drawing/2014/main" id="{BBF85A4B-2903-D251-6905-C75C5D40B8D9}"/>
                </a:ext>
              </a:extLst>
            </p:cNvPr>
            <p:cNvSpPr/>
            <p:nvPr/>
          </p:nvSpPr>
          <p:spPr>
            <a:xfrm>
              <a:off x="8190056" y="1470051"/>
              <a:ext cx="925488" cy="704087"/>
            </a:xfrm>
            <a:prstGeom prst="wedgeEllipseCallout">
              <a:avLst>
                <a:gd name="adj1" fmla="val 111562"/>
                <a:gd name="adj2" fmla="val 48214"/>
              </a:avLst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BBD6FA33-80DB-1B43-A2BD-80CE43E89EEE}"/>
                </a:ext>
              </a:extLst>
            </p:cNvPr>
            <p:cNvSpPr txBox="1"/>
            <p:nvPr/>
          </p:nvSpPr>
          <p:spPr>
            <a:xfrm>
              <a:off x="8299748" y="1629267"/>
              <a:ext cx="6896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קלט</a:t>
              </a:r>
              <a:endParaRPr lang="en-IL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בועת דיבור: אליפסה 22">
            <a:extLst>
              <a:ext uri="{FF2B5EF4-FFF2-40B4-BE49-F238E27FC236}">
                <a16:creationId xmlns:a16="http://schemas.microsoft.com/office/drawing/2014/main" id="{601E4928-5BAA-3E94-8C9A-3DF603583C1B}"/>
              </a:ext>
            </a:extLst>
          </p:cNvPr>
          <p:cNvSpPr/>
          <p:nvPr/>
        </p:nvSpPr>
        <p:spPr>
          <a:xfrm>
            <a:off x="1754277" y="2490052"/>
            <a:ext cx="925488" cy="704087"/>
          </a:xfrm>
          <a:prstGeom prst="wedgeEllipseCallout">
            <a:avLst>
              <a:gd name="adj1" fmla="val -83078"/>
              <a:gd name="adj2" fmla="val 689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24" name="תמונה 23">
            <a:extLst>
              <a:ext uri="{FF2B5EF4-FFF2-40B4-BE49-F238E27FC236}">
                <a16:creationId xmlns:a16="http://schemas.microsoft.com/office/drawing/2014/main" id="{677E2428-2555-61CD-FD3B-B4626CB6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1" r="4384"/>
          <a:stretch>
            <a:fillRect/>
          </a:stretch>
        </p:blipFill>
        <p:spPr>
          <a:xfrm>
            <a:off x="1833381" y="2530668"/>
            <a:ext cx="791287" cy="62172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9771561-A0D7-982A-B5AE-57630A341248}"/>
              </a:ext>
            </a:extLst>
          </p:cNvPr>
          <p:cNvSpPr txBox="1"/>
          <p:nvPr/>
        </p:nvSpPr>
        <p:spPr>
          <a:xfrm>
            <a:off x="1886622" y="2660010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פלט</a:t>
            </a:r>
            <a:endParaRPr lang="en-IL" sz="2000" b="1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4D702AE0-18C7-8D70-F32C-8D2669A60354}"/>
              </a:ext>
            </a:extLst>
          </p:cNvPr>
          <p:cNvGrpSpPr/>
          <p:nvPr/>
        </p:nvGrpSpPr>
        <p:grpSpPr>
          <a:xfrm>
            <a:off x="6808594" y="2390519"/>
            <a:ext cx="609312" cy="998839"/>
            <a:chOff x="11328926" y="123524"/>
            <a:chExt cx="609312" cy="998839"/>
          </a:xfrm>
        </p:grpSpPr>
        <p:grpSp>
          <p:nvGrpSpPr>
            <p:cNvPr id="28" name="קבוצה 27">
              <a:extLst>
                <a:ext uri="{FF2B5EF4-FFF2-40B4-BE49-F238E27FC236}">
                  <a16:creationId xmlns:a16="http://schemas.microsoft.com/office/drawing/2014/main" id="{9E21C7DD-EBC3-3FC4-DD9E-DB242893BD1C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30" name="צורה חופשית: צורה 29">
                <a:extLst>
                  <a:ext uri="{FF2B5EF4-FFF2-40B4-BE49-F238E27FC236}">
                    <a16:creationId xmlns:a16="http://schemas.microsoft.com/office/drawing/2014/main" id="{6EBF5778-24CB-BB05-2071-B49F43B93D92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31" name="צורה חופשית: צורה 30">
                <a:extLst>
                  <a:ext uri="{FF2B5EF4-FFF2-40B4-BE49-F238E27FC236}">
                    <a16:creationId xmlns:a16="http://schemas.microsoft.com/office/drawing/2014/main" id="{2FDE78CF-EB08-1F42-A16C-C41317AA99BA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5CFA1577-B55C-D4CC-E003-CDF2F5A15B8C}"/>
                </a:ext>
              </a:extLst>
            </p:cNvPr>
            <p:cNvSpPr txBox="1"/>
            <p:nvPr/>
          </p:nvSpPr>
          <p:spPr>
            <a:xfrm>
              <a:off x="11496032" y="278144"/>
              <a:ext cx="37078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L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6C26F543-16B4-AA4B-0B82-E712991DAB0D}"/>
              </a:ext>
            </a:extLst>
          </p:cNvPr>
          <p:cNvGrpSpPr/>
          <p:nvPr/>
        </p:nvGrpSpPr>
        <p:grpSpPr>
          <a:xfrm>
            <a:off x="3299285" y="4931534"/>
            <a:ext cx="609312" cy="998839"/>
            <a:chOff x="11328926" y="123524"/>
            <a:chExt cx="609312" cy="998839"/>
          </a:xfrm>
        </p:grpSpPr>
        <p:grpSp>
          <p:nvGrpSpPr>
            <p:cNvPr id="33" name="קבוצה 32">
              <a:extLst>
                <a:ext uri="{FF2B5EF4-FFF2-40B4-BE49-F238E27FC236}">
                  <a16:creationId xmlns:a16="http://schemas.microsoft.com/office/drawing/2014/main" id="{0CBBEA2D-B07C-37F9-BB7A-3FF69655CA88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35" name="צורה חופשית: צורה 34">
                <a:extLst>
                  <a:ext uri="{FF2B5EF4-FFF2-40B4-BE49-F238E27FC236}">
                    <a16:creationId xmlns:a16="http://schemas.microsoft.com/office/drawing/2014/main" id="{8275F948-FCD6-CBA4-4065-D40A7A35761B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36" name="צורה חופשית: צורה 35">
                <a:extLst>
                  <a:ext uri="{FF2B5EF4-FFF2-40B4-BE49-F238E27FC236}">
                    <a16:creationId xmlns:a16="http://schemas.microsoft.com/office/drawing/2014/main" id="{A3220214-33E9-F571-4954-FA25E58586D4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34" name="תיבת טקסט 33">
              <a:extLst>
                <a:ext uri="{FF2B5EF4-FFF2-40B4-BE49-F238E27FC236}">
                  <a16:creationId xmlns:a16="http://schemas.microsoft.com/office/drawing/2014/main" id="{525334EC-9580-CE76-D881-1C1282254A68}"/>
                </a:ext>
              </a:extLst>
            </p:cNvPr>
            <p:cNvSpPr txBox="1"/>
            <p:nvPr/>
          </p:nvSpPr>
          <p:spPr>
            <a:xfrm>
              <a:off x="11496032" y="278144"/>
              <a:ext cx="37078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L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7" name="קבוצה 36">
            <a:extLst>
              <a:ext uri="{FF2B5EF4-FFF2-40B4-BE49-F238E27FC236}">
                <a16:creationId xmlns:a16="http://schemas.microsoft.com/office/drawing/2014/main" id="{E42A558E-D396-9A1A-2801-215CD27082A8}"/>
              </a:ext>
            </a:extLst>
          </p:cNvPr>
          <p:cNvGrpSpPr/>
          <p:nvPr/>
        </p:nvGrpSpPr>
        <p:grpSpPr>
          <a:xfrm>
            <a:off x="5497232" y="1537064"/>
            <a:ext cx="277667" cy="455177"/>
            <a:chOff x="11328926" y="123524"/>
            <a:chExt cx="609312" cy="998839"/>
          </a:xfrm>
        </p:grpSpPr>
        <p:grpSp>
          <p:nvGrpSpPr>
            <p:cNvPr id="38" name="קבוצה 37">
              <a:extLst>
                <a:ext uri="{FF2B5EF4-FFF2-40B4-BE49-F238E27FC236}">
                  <a16:creationId xmlns:a16="http://schemas.microsoft.com/office/drawing/2014/main" id="{22F43FB9-918C-ADFB-B46A-AF9A921B3B25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40" name="צורה חופשית: צורה 39">
                <a:extLst>
                  <a:ext uri="{FF2B5EF4-FFF2-40B4-BE49-F238E27FC236}">
                    <a16:creationId xmlns:a16="http://schemas.microsoft.com/office/drawing/2014/main" id="{43CFF5FA-F728-2F23-B02B-2BA944F146ED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sz="800" dirty="0"/>
              </a:p>
            </p:txBody>
          </p:sp>
          <p:sp>
            <p:nvSpPr>
              <p:cNvPr id="41" name="צורה חופשית: צורה 40">
                <a:extLst>
                  <a:ext uri="{FF2B5EF4-FFF2-40B4-BE49-F238E27FC236}">
                    <a16:creationId xmlns:a16="http://schemas.microsoft.com/office/drawing/2014/main" id="{52B7B927-D4F4-A342-9E63-E881F33746B0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sz="800"/>
              </a:p>
            </p:txBody>
          </p:sp>
        </p:grpSp>
        <p:sp>
          <p:nvSpPr>
            <p:cNvPr id="39" name="תיבת טקסט 38">
              <a:extLst>
                <a:ext uri="{FF2B5EF4-FFF2-40B4-BE49-F238E27FC236}">
                  <a16:creationId xmlns:a16="http://schemas.microsoft.com/office/drawing/2014/main" id="{CC1CC6EB-BA98-A2D6-3241-AE1930AD21D7}"/>
                </a:ext>
              </a:extLst>
            </p:cNvPr>
            <p:cNvSpPr txBox="1"/>
            <p:nvPr/>
          </p:nvSpPr>
          <p:spPr>
            <a:xfrm>
              <a:off x="11496032" y="278143"/>
              <a:ext cx="370790" cy="675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L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43" name="תמונה 42">
            <a:extLst>
              <a:ext uri="{FF2B5EF4-FFF2-40B4-BE49-F238E27FC236}">
                <a16:creationId xmlns:a16="http://schemas.microsoft.com/office/drawing/2014/main" id="{56810D56-A1FA-A5E1-3CD0-5858457C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598" y="2841531"/>
            <a:ext cx="2408185" cy="16976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5825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AA5AA-4F91-9826-EB9E-FA873527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FD8CD58F-BE9B-C491-F2AB-6791287747FF}"/>
              </a:ext>
            </a:extLst>
          </p:cNvPr>
          <p:cNvSpPr/>
          <p:nvPr/>
        </p:nvSpPr>
        <p:spPr>
          <a:xfrm>
            <a:off x="0" y="0"/>
            <a:ext cx="12192000" cy="3383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חינם. ככה ננצל משאבים.</a:t>
            </a:r>
            <a:endParaRPr lang="en-IL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147" name="Picture 3">
            <a:hlinkClick r:id="rId2"/>
            <a:extLst>
              <a:ext uri="{FF2B5EF4-FFF2-40B4-BE49-F238E27FC236}">
                <a16:creationId xmlns:a16="http://schemas.microsoft.com/office/drawing/2014/main" id="{D08AB44A-AE2D-F5A8-43B9-FE59F8E9E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890" y="2139697"/>
            <a:ext cx="3844717" cy="141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08A0178D-BEF5-7FA4-D55D-9ACEC44F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6" y="2551177"/>
            <a:ext cx="3029364" cy="111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091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4698-50B2-3850-56F8-15677DC2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85C8D7D3-08BE-34A3-0914-2892B21C385D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הרשמה למערכת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E069524-10F0-D846-D18D-29097FB96D2B}"/>
              </a:ext>
            </a:extLst>
          </p:cNvPr>
          <p:cNvSpPr txBox="1"/>
          <p:nvPr/>
        </p:nvSpPr>
        <p:spPr>
          <a:xfrm>
            <a:off x="73324" y="107942"/>
            <a:ext cx="235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dirty="0"/>
              <a:t>חשבון</a:t>
            </a:r>
            <a:r>
              <a:rPr lang="he-IL" dirty="0"/>
              <a:t> | פרופיל | </a:t>
            </a:r>
            <a:r>
              <a:rPr lang="en-US" dirty="0" err="1"/>
              <a:t>apikey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14261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40F59AB1-69CE-8966-76E5-3E86E08306B8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בחירת פרופיל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5B62BC9-CF66-6156-C57B-04ED56C5FA93}"/>
              </a:ext>
            </a:extLst>
          </p:cNvPr>
          <p:cNvSpPr txBox="1"/>
          <p:nvPr/>
        </p:nvSpPr>
        <p:spPr>
          <a:xfrm>
            <a:off x="73324" y="107942"/>
            <a:ext cx="235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חשבון | </a:t>
            </a:r>
            <a:r>
              <a:rPr lang="he-IL" b="1" dirty="0"/>
              <a:t>פרופיל</a:t>
            </a:r>
            <a:r>
              <a:rPr lang="he-IL" dirty="0"/>
              <a:t> | </a:t>
            </a:r>
            <a:r>
              <a:rPr lang="en-US" dirty="0" err="1"/>
              <a:t>apikey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7680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B8B8-E601-383D-A8DF-F34A1999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937779DE-20DC-6531-FF0D-080A3C2B74B1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שמירת </a:t>
            </a:r>
            <a:r>
              <a:rPr lang="en-US" dirty="0" err="1"/>
              <a:t>apikey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14CA02D-177B-E3ED-7011-156AC6888654}"/>
              </a:ext>
            </a:extLst>
          </p:cNvPr>
          <p:cNvSpPr txBox="1"/>
          <p:nvPr/>
        </p:nvSpPr>
        <p:spPr>
          <a:xfrm>
            <a:off x="73324" y="107942"/>
            <a:ext cx="235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59676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5B4A-5135-105C-2228-8CE17393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48E5DA2-BC94-4602-4E6C-D7426FAC5651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 err="1"/>
              <a:t>דשבורד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FFC9BF9-23DD-3495-D003-49F4BC820E11}"/>
              </a:ext>
            </a:extLst>
          </p:cNvPr>
          <p:cNvSpPr txBox="1"/>
          <p:nvPr/>
        </p:nvSpPr>
        <p:spPr>
          <a:xfrm>
            <a:off x="-18111" y="107942"/>
            <a:ext cx="2450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66855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F124-8879-72DD-C45B-D1838F94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5F17E34-6295-483A-F4A6-405E83451AAC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אפליקציית צד שלישי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B879BDB-5072-2731-E048-4A53B7CA503E}"/>
              </a:ext>
            </a:extLst>
          </p:cNvPr>
          <p:cNvSpPr txBox="1"/>
          <p:nvPr/>
        </p:nvSpPr>
        <p:spPr>
          <a:xfrm>
            <a:off x="57230" y="107942"/>
            <a:ext cx="237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C83ED15-4AA5-C374-C40E-76EED1BAE8F4}"/>
              </a:ext>
            </a:extLst>
          </p:cNvPr>
          <p:cNvSpPr txBox="1"/>
          <p:nvPr/>
        </p:nvSpPr>
        <p:spPr>
          <a:xfrm>
            <a:off x="267542" y="647438"/>
            <a:ext cx="4128181" cy="369332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none" rtlCol="0">
            <a:spAutoFit/>
          </a:bodyPr>
          <a:lstStyle/>
          <a:p>
            <a:r>
              <a:rPr lang="en-US" b="1" dirty="0"/>
              <a:t>ai613.autodidact.co.il/console/</a:t>
            </a:r>
            <a:r>
              <a:rPr lang="en-US" b="1" dirty="0" err="1"/>
              <a:t>api</a:t>
            </a:r>
            <a:r>
              <a:rPr lang="en-US" b="1" dirty="0"/>
              <a:t>/v1</a:t>
            </a:r>
            <a:endParaRPr lang="en-IL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75E584F-6382-862C-0217-670B3B2CEE2A}"/>
              </a:ext>
            </a:extLst>
          </p:cNvPr>
          <p:cNvSpPr/>
          <p:nvPr/>
        </p:nvSpPr>
        <p:spPr>
          <a:xfrm>
            <a:off x="9674352" y="678442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צ'אט</a:t>
            </a:r>
            <a:endParaRPr lang="en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EA33CF1-4457-352D-ECD0-38DDBC286784}"/>
              </a:ext>
            </a:extLst>
          </p:cNvPr>
          <p:cNvSpPr txBox="1"/>
          <p:nvPr/>
        </p:nvSpPr>
        <p:spPr>
          <a:xfrm>
            <a:off x="368046" y="5118854"/>
            <a:ext cx="6094476" cy="369332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pPr algn="l" rtl="0"/>
            <a:r>
              <a:rPr lang="en-IL" dirty="0"/>
              <a:t>https://web.chatboxai.app/guide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0B4AEB1-EE4F-AD73-361B-44826FBD6C27}"/>
              </a:ext>
            </a:extLst>
          </p:cNvPr>
          <p:cNvSpPr txBox="1"/>
          <p:nvPr/>
        </p:nvSpPr>
        <p:spPr>
          <a:xfrm>
            <a:off x="368046" y="5758934"/>
            <a:ext cx="6094476" cy="369332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>
            <a:defPPr>
              <a:defRPr lang="en-IL"/>
            </a:defPPr>
            <a:lvl1pPr algn="l" rtl="0"/>
          </a:lstStyle>
          <a:p>
            <a:r>
              <a:rPr lang="en-IL" dirty="0"/>
              <a:t>https://chatboxai.app/en</a:t>
            </a:r>
          </a:p>
        </p:txBody>
      </p:sp>
    </p:spTree>
    <p:extLst>
      <p:ext uri="{BB962C8B-B14F-4D97-AF65-F5344CB8AC3E}">
        <p14:creationId xmlns:p14="http://schemas.microsoft.com/office/powerpoint/2010/main" val="308857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0E4C-3B77-5B47-424D-D3124F09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0427F71-23DB-78EE-0EE8-B0DE25C8F4FD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אפליקציית צד שלישי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13C66AA-174C-9313-5874-8AEC4666F99E}"/>
              </a:ext>
            </a:extLst>
          </p:cNvPr>
          <p:cNvSpPr txBox="1"/>
          <p:nvPr/>
        </p:nvSpPr>
        <p:spPr>
          <a:xfrm>
            <a:off x="57230" y="107942"/>
            <a:ext cx="237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9833E5F-FF6D-CBEB-C787-236086554E9E}"/>
              </a:ext>
            </a:extLst>
          </p:cNvPr>
          <p:cNvSpPr txBox="1"/>
          <p:nvPr/>
        </p:nvSpPr>
        <p:spPr>
          <a:xfrm>
            <a:off x="20361" y="73887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Cline</a:t>
            </a:r>
            <a:endParaRPr lang="en-IL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8F17A7F-DAA3-BEED-E432-7C8A193B3F17}"/>
              </a:ext>
            </a:extLst>
          </p:cNvPr>
          <p:cNvSpPr/>
          <p:nvPr/>
        </p:nvSpPr>
        <p:spPr>
          <a:xfrm>
            <a:off x="9674352" y="678442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כלי פיתוח</a:t>
            </a:r>
            <a:endParaRPr lang="en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9329990-2A49-C899-39CC-C6A1C78C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4" y="738878"/>
            <a:ext cx="5096586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6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0E9-6126-C25B-8ACF-FD67C457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9085933A-597F-F790-409F-E6554EA932A3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פיתוח קוד עם </a:t>
            </a:r>
            <a:r>
              <a:rPr lang="en-US" dirty="0" err="1"/>
              <a:t>sdk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731BD92-36DA-FD34-179B-A7BE5B0B9F5D}"/>
              </a:ext>
            </a:extLst>
          </p:cNvPr>
          <p:cNvSpPr txBox="1"/>
          <p:nvPr/>
        </p:nvSpPr>
        <p:spPr>
          <a:xfrm>
            <a:off x="57230" y="107942"/>
            <a:ext cx="237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03F3AFB-C3F4-A1D5-B13B-0C2E003DD5E8}"/>
              </a:ext>
            </a:extLst>
          </p:cNvPr>
          <p:cNvSpPr txBox="1"/>
          <p:nvPr/>
        </p:nvSpPr>
        <p:spPr>
          <a:xfrm>
            <a:off x="57230" y="674870"/>
            <a:ext cx="139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Openai-sdk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93376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50A7-3262-88FC-C0DB-C8DB445E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0AB35896-0619-8DDB-B35F-4490611D6E86}"/>
              </a:ext>
            </a:extLst>
          </p:cNvPr>
          <p:cNvSpPr/>
          <p:nvPr/>
        </p:nvSpPr>
        <p:spPr>
          <a:xfrm>
            <a:off x="9674352" y="228600"/>
            <a:ext cx="2157984" cy="338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ניהול המערכת</a:t>
            </a:r>
            <a:endParaRPr lang="en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83AF670-E89A-0D88-E760-A7AE90E3D779}"/>
              </a:ext>
            </a:extLst>
          </p:cNvPr>
          <p:cNvSpPr txBox="1"/>
          <p:nvPr/>
        </p:nvSpPr>
        <p:spPr>
          <a:xfrm>
            <a:off x="82473" y="107942"/>
            <a:ext cx="2450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dirty="0"/>
              <a:t>חשבון | פרופיל | </a:t>
            </a:r>
            <a:r>
              <a:rPr lang="en-US" b="1" dirty="0" err="1"/>
              <a:t>apikey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4293549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D0E7-A80B-2C54-6375-D78C0464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59CA34A-78F0-57C8-6060-D40C6052FF2B}"/>
              </a:ext>
            </a:extLst>
          </p:cNvPr>
          <p:cNvSpPr txBox="1"/>
          <p:nvPr/>
        </p:nvSpPr>
        <p:spPr>
          <a:xfrm>
            <a:off x="5169179" y="1207008"/>
            <a:ext cx="1697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dirty="0"/>
              <a:t>יש עוד מוצרים...</a:t>
            </a:r>
          </a:p>
          <a:p>
            <a:endParaRPr lang="he-IL" b="1" dirty="0"/>
          </a:p>
          <a:p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85765785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4918</TotalTime>
  <Words>208</Words>
  <Application>Microsoft Office PowerPoint</Application>
  <PresentationFormat>מסך רחב</PresentationFormat>
  <Paragraphs>50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Segoe UI</vt:lpstr>
      <vt:lpstr>ערכת נושא Office</vt:lpstr>
      <vt:lpstr>SafeAI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שושנה רויזא טעפ</dc:creator>
  <cp:lastModifiedBy>שושנה רויזא טעפ</cp:lastModifiedBy>
  <cp:revision>6</cp:revision>
  <dcterms:created xsi:type="dcterms:W3CDTF">2026-04-09T18:08:47Z</dcterms:created>
  <dcterms:modified xsi:type="dcterms:W3CDTF">2026-04-26T20:31:41Z</dcterms:modified>
</cp:coreProperties>
</file>