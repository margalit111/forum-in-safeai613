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66" d="100"/>
          <a:sy n="66" d="100"/>
        </p:scale>
        <p:origin x="2310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271172-3670-5424-AD30-E7914C8F4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665BBC6-4B8D-5D9E-7F57-3AC76ABFD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92CE90-8954-FA49-48A7-0AD194FC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72B0DA7-F717-AF02-3ECA-6313E73A7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A70E64-D6C2-FE98-8743-EEAEE007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190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13DD0D-E06E-8C31-9A14-1AB05092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BC1B4CE-1D81-2F9F-EFD9-E9510518B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7FE1FCD-6836-8DA3-551C-10E05CAA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E63BA93-BA29-95DD-2CC1-3A79300E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13D9DA0-323D-C1D8-DFCD-41C9C78A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670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536AF4-9F96-1A60-3102-51F4E773C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1494558-0784-221D-255E-0474A7B9F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7D45847-0DBF-15A5-B3CD-40CD9549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3A33BA4-1DDD-7527-1E50-804DBEF9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7D28596-9DC6-3205-6F4A-FBF2EE13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519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CFDFB9-83C7-22A7-B9F1-2EF82D5C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C0EE466-A857-2D27-7739-3B8ABCCE3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AE5F56C-BF40-7708-77BB-2692A7D22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A859D8C-7F9A-24AF-2B62-7B934397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228721E-C12B-4DEB-CE2C-0B9F6FA52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A707208-BE44-B66D-70B6-0D28CBB80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385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9DCCE7-78DE-AEFA-B531-2AFFE5CC6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08E4432-D029-DFDF-B861-FFA89C5D7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53E7CE0-2848-861D-797D-7656C0BE3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B5EB675-5AE4-7AA4-1A99-3A34E3D79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C0458CE-8E91-D753-8BBB-03BF6CB73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46E465B-454A-AB19-5A1D-DC7CA10A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A6F4E0F-8BB4-6BB2-15BE-27A18191D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3094853-777A-E280-605C-1CBBDA66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1566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7564EE-DD2F-7D18-6695-235E0600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97A4792-648C-3CD3-716B-D94FAC2C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C92AC0D-7C7F-3442-59FF-31D0DCCE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4B8B032-01AD-8C48-981F-98D0DA99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230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3C86840-F021-6CC0-C384-46C0AFED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6EA9362-2988-3376-3CEF-DF0F50F2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70E4270-0BF5-C41A-35F3-9D5450D3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0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684360-D2D2-3B09-3CB4-005CAFCF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67189B0-FA19-F6A7-AE81-B89B25C3A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5D4EC6A-2536-5810-280B-329601D25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52322D1-61AB-6639-5D75-1A119EC0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2478BC7-11A3-F3E9-EF5E-155FE55D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A2C882C-2082-0007-60A0-55B8F042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174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84C04D-6CD7-BDA8-BA2C-79B217EE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124350D-2CC5-F149-9FC9-B640A25E3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F7ABC80-DB85-D4AC-4AA2-85DAC064D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43A0AE9-8868-AFA2-2719-8CBB28C1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987820B-EACF-D214-0D9A-2CA8D39C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D5BA8D5-D60B-9AA8-4837-A21D0E6D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3328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F0525D-EBF8-68DF-0327-D4EE8A91F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998EA24-A4E5-4409-AFB1-1B3774CE3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898BEEA-D721-EA69-0C27-2C571D1D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7B5267-7FEC-1CFB-90EB-2506A8FF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949071F-5956-B91D-A9A6-45A830C1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946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6217F6F-0984-6219-0AB0-EA214FDFC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5D2EDF7-1EF8-5C9E-14A2-47463EF22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EC2D493-0124-7621-C139-85914736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96153A9-ECEA-ED24-90A5-7E149A1F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A3280AA-600C-234F-F06F-7E9023A0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833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F9BA9DC-1E53-1A14-6E7B-0BFC267E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4CCE205-DB5A-C399-8022-3D082509B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0FBA79F-C8F8-2A48-E346-0E01C10C1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8C61C-D86A-4957-9330-9D3F30E90D1E}" type="datetimeFigureOut">
              <a:rPr lang="en-IL" smtClean="0"/>
              <a:t>10/04/2026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2977AFF-617F-5748-5CAA-92E8D635E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A101F48-CC5E-8432-5BF6-40C58F11A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73970-C56D-4D60-A9F9-C0414751D2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024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054E13-F9F1-29B0-02E3-9779240F1F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SafeAI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IL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7F6A9F0-259A-E1E8-5960-6B26763AC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3611563"/>
            <a:ext cx="9144000" cy="1655762"/>
          </a:xfrm>
        </p:spPr>
        <p:txBody>
          <a:bodyPr/>
          <a:lstStyle/>
          <a:p>
            <a:r>
              <a:rPr lang="he-I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פתרונות בטוחים לשימוש ב-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</a:t>
            </a:r>
            <a:endParaRPr lang="he-IL" sz="2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4F8E5EE9-A89D-BD6F-3387-F2784B91AD0C}"/>
              </a:ext>
            </a:extLst>
          </p:cNvPr>
          <p:cNvGrpSpPr/>
          <p:nvPr/>
        </p:nvGrpSpPr>
        <p:grpSpPr>
          <a:xfrm>
            <a:off x="4349740" y="2530174"/>
            <a:ext cx="507629" cy="832151"/>
            <a:chOff x="3426282" y="1664208"/>
            <a:chExt cx="1221587" cy="2002536"/>
          </a:xfrm>
        </p:grpSpPr>
        <p:sp>
          <p:nvSpPr>
            <p:cNvPr id="4" name="צורה חופשית: צורה 3">
              <a:extLst>
                <a:ext uri="{FF2B5EF4-FFF2-40B4-BE49-F238E27FC236}">
                  <a16:creationId xmlns:a16="http://schemas.microsoft.com/office/drawing/2014/main" id="{6DA3193A-0072-814A-3DA0-A3AF2808C821}"/>
                </a:ext>
              </a:extLst>
            </p:cNvPr>
            <p:cNvSpPr/>
            <p:nvPr/>
          </p:nvSpPr>
          <p:spPr>
            <a:xfrm>
              <a:off x="3904488" y="1664208"/>
              <a:ext cx="743381" cy="2002536"/>
            </a:xfrm>
            <a:custGeom>
              <a:avLst/>
              <a:gdLst>
                <a:gd name="csX0" fmla="*/ 0 w 651941"/>
                <a:gd name="csY0" fmla="*/ 0 h 2002536"/>
                <a:gd name="csX1" fmla="*/ 128016 w 651941"/>
                <a:gd name="csY1" fmla="*/ 274320 h 2002536"/>
                <a:gd name="csX2" fmla="*/ 594360 w 651941"/>
                <a:gd name="csY2" fmla="*/ 429768 h 2002536"/>
                <a:gd name="csX3" fmla="*/ 630936 w 651941"/>
                <a:gd name="csY3" fmla="*/ 484632 h 2002536"/>
                <a:gd name="csX4" fmla="*/ 612648 w 651941"/>
                <a:gd name="csY4" fmla="*/ 804672 h 2002536"/>
                <a:gd name="csX5" fmla="*/ 612648 w 651941"/>
                <a:gd name="csY5" fmla="*/ 1325880 h 2002536"/>
                <a:gd name="csX6" fmla="*/ 73152 w 651941"/>
                <a:gd name="csY6" fmla="*/ 1856232 h 2002536"/>
                <a:gd name="csX7" fmla="*/ 73152 w 651941"/>
                <a:gd name="csY7" fmla="*/ 1856232 h 2002536"/>
                <a:gd name="csX8" fmla="*/ 45720 w 651941"/>
                <a:gd name="csY8" fmla="*/ 2002536 h 20025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51941" h="2002536">
                  <a:moveTo>
                    <a:pt x="0" y="0"/>
                  </a:moveTo>
                  <a:cubicBezTo>
                    <a:pt x="14478" y="101346"/>
                    <a:pt x="28956" y="202692"/>
                    <a:pt x="128016" y="274320"/>
                  </a:cubicBezTo>
                  <a:cubicBezTo>
                    <a:pt x="227076" y="345948"/>
                    <a:pt x="510540" y="394716"/>
                    <a:pt x="594360" y="429768"/>
                  </a:cubicBezTo>
                  <a:cubicBezTo>
                    <a:pt x="678180" y="464820"/>
                    <a:pt x="627888" y="422148"/>
                    <a:pt x="630936" y="484632"/>
                  </a:cubicBezTo>
                  <a:cubicBezTo>
                    <a:pt x="633984" y="547116"/>
                    <a:pt x="615696" y="664464"/>
                    <a:pt x="612648" y="804672"/>
                  </a:cubicBezTo>
                  <a:cubicBezTo>
                    <a:pt x="609600" y="944880"/>
                    <a:pt x="702564" y="1150620"/>
                    <a:pt x="612648" y="1325880"/>
                  </a:cubicBezTo>
                  <a:cubicBezTo>
                    <a:pt x="522732" y="1501140"/>
                    <a:pt x="73152" y="1856232"/>
                    <a:pt x="73152" y="1856232"/>
                  </a:cubicBezTo>
                  <a:lnTo>
                    <a:pt x="73152" y="1856232"/>
                  </a:lnTo>
                  <a:lnTo>
                    <a:pt x="45720" y="2002536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5" name="צורה חופשית: צורה 4">
              <a:extLst>
                <a:ext uri="{FF2B5EF4-FFF2-40B4-BE49-F238E27FC236}">
                  <a16:creationId xmlns:a16="http://schemas.microsoft.com/office/drawing/2014/main" id="{ECA03EB5-0336-49F1-CF44-CFBBC6029FF1}"/>
                </a:ext>
              </a:extLst>
            </p:cNvPr>
            <p:cNvSpPr/>
            <p:nvPr/>
          </p:nvSpPr>
          <p:spPr>
            <a:xfrm flipH="1">
              <a:off x="3426282" y="1664208"/>
              <a:ext cx="743382" cy="2002536"/>
            </a:xfrm>
            <a:custGeom>
              <a:avLst/>
              <a:gdLst>
                <a:gd name="csX0" fmla="*/ 0 w 651941"/>
                <a:gd name="csY0" fmla="*/ 0 h 2002536"/>
                <a:gd name="csX1" fmla="*/ 128016 w 651941"/>
                <a:gd name="csY1" fmla="*/ 274320 h 2002536"/>
                <a:gd name="csX2" fmla="*/ 594360 w 651941"/>
                <a:gd name="csY2" fmla="*/ 429768 h 2002536"/>
                <a:gd name="csX3" fmla="*/ 630936 w 651941"/>
                <a:gd name="csY3" fmla="*/ 484632 h 2002536"/>
                <a:gd name="csX4" fmla="*/ 612648 w 651941"/>
                <a:gd name="csY4" fmla="*/ 804672 h 2002536"/>
                <a:gd name="csX5" fmla="*/ 612648 w 651941"/>
                <a:gd name="csY5" fmla="*/ 1325880 h 2002536"/>
                <a:gd name="csX6" fmla="*/ 73152 w 651941"/>
                <a:gd name="csY6" fmla="*/ 1856232 h 2002536"/>
                <a:gd name="csX7" fmla="*/ 73152 w 651941"/>
                <a:gd name="csY7" fmla="*/ 1856232 h 2002536"/>
                <a:gd name="csX8" fmla="*/ 45720 w 651941"/>
                <a:gd name="csY8" fmla="*/ 2002536 h 20025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51941" h="2002536">
                  <a:moveTo>
                    <a:pt x="0" y="0"/>
                  </a:moveTo>
                  <a:cubicBezTo>
                    <a:pt x="14478" y="101346"/>
                    <a:pt x="28956" y="202692"/>
                    <a:pt x="128016" y="274320"/>
                  </a:cubicBezTo>
                  <a:cubicBezTo>
                    <a:pt x="227076" y="345948"/>
                    <a:pt x="510540" y="394716"/>
                    <a:pt x="594360" y="429768"/>
                  </a:cubicBezTo>
                  <a:cubicBezTo>
                    <a:pt x="678180" y="464820"/>
                    <a:pt x="627888" y="422148"/>
                    <a:pt x="630936" y="484632"/>
                  </a:cubicBezTo>
                  <a:cubicBezTo>
                    <a:pt x="633984" y="547116"/>
                    <a:pt x="615696" y="664464"/>
                    <a:pt x="612648" y="804672"/>
                  </a:cubicBezTo>
                  <a:cubicBezTo>
                    <a:pt x="609600" y="944880"/>
                    <a:pt x="702564" y="1150620"/>
                    <a:pt x="612648" y="1325880"/>
                  </a:cubicBezTo>
                  <a:cubicBezTo>
                    <a:pt x="522732" y="1501140"/>
                    <a:pt x="73152" y="1856232"/>
                    <a:pt x="73152" y="1856232"/>
                  </a:cubicBezTo>
                  <a:lnTo>
                    <a:pt x="73152" y="1856232"/>
                  </a:lnTo>
                  <a:lnTo>
                    <a:pt x="45720" y="2002536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F5A5448D-FA4B-BDA2-8F60-D35207A8339B}"/>
              </a:ext>
            </a:extLst>
          </p:cNvPr>
          <p:cNvGrpSpPr/>
          <p:nvPr/>
        </p:nvGrpSpPr>
        <p:grpSpPr>
          <a:xfrm>
            <a:off x="11328926" y="123524"/>
            <a:ext cx="609312" cy="998839"/>
            <a:chOff x="11328926" y="123524"/>
            <a:chExt cx="609312" cy="998839"/>
          </a:xfrm>
        </p:grpSpPr>
        <p:grpSp>
          <p:nvGrpSpPr>
            <p:cNvPr id="8" name="קבוצה 7">
              <a:extLst>
                <a:ext uri="{FF2B5EF4-FFF2-40B4-BE49-F238E27FC236}">
                  <a16:creationId xmlns:a16="http://schemas.microsoft.com/office/drawing/2014/main" id="{A3E2F0C6-3356-1FE5-6DF4-F51DFE95FAB7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9" name="צורה חופשית: צורה 8">
                <a:extLst>
                  <a:ext uri="{FF2B5EF4-FFF2-40B4-BE49-F238E27FC236}">
                    <a16:creationId xmlns:a16="http://schemas.microsoft.com/office/drawing/2014/main" id="{D9584C49-AFE9-0531-BFDE-84E0CF546BB6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10" name="צורה חופשית: צורה 9">
                <a:extLst>
                  <a:ext uri="{FF2B5EF4-FFF2-40B4-BE49-F238E27FC236}">
                    <a16:creationId xmlns:a16="http://schemas.microsoft.com/office/drawing/2014/main" id="{CED4D791-4686-70CB-B0F2-44F520D62237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AD914098-C498-CDEE-B422-95166FC0789E}"/>
                </a:ext>
              </a:extLst>
            </p:cNvPr>
            <p:cNvSpPr txBox="1"/>
            <p:nvPr/>
          </p:nvSpPr>
          <p:spPr>
            <a:xfrm>
              <a:off x="11514320" y="238222"/>
              <a:ext cx="37078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  <a:endParaRPr lang="en-IL" sz="4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0852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5FAFD677-0924-D936-92D8-E991557084B2}"/>
              </a:ext>
            </a:extLst>
          </p:cNvPr>
          <p:cNvSpPr/>
          <p:nvPr/>
        </p:nvSpPr>
        <p:spPr>
          <a:xfrm>
            <a:off x="6710859" y="704850"/>
            <a:ext cx="1380912" cy="73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דף בית</a:t>
            </a:r>
            <a:endParaRPr lang="en-IL" sz="1100" dirty="0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30074589-E113-0561-F9B1-56D68AA2F984}"/>
              </a:ext>
            </a:extLst>
          </p:cNvPr>
          <p:cNvSpPr/>
          <p:nvPr/>
        </p:nvSpPr>
        <p:spPr>
          <a:xfrm>
            <a:off x="8279961" y="1774421"/>
            <a:ext cx="1380912" cy="73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סוכן לאורח</a:t>
            </a:r>
            <a:br>
              <a:rPr lang="en-US" sz="1100" dirty="0"/>
            </a:br>
            <a:r>
              <a:rPr lang="he-IL" sz="1100" dirty="0"/>
              <a:t>(</a:t>
            </a:r>
            <a:r>
              <a:rPr lang="en-US" sz="1100" dirty="0"/>
              <a:t>about</a:t>
            </a:r>
            <a:r>
              <a:rPr lang="he-IL" sz="1100" dirty="0"/>
              <a:t>)</a:t>
            </a:r>
            <a:endParaRPr lang="en-IL" sz="1100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EEA83D9-086B-4A6F-F908-F32C6588BD92}"/>
              </a:ext>
            </a:extLst>
          </p:cNvPr>
          <p:cNvSpPr/>
          <p:nvPr/>
        </p:nvSpPr>
        <p:spPr>
          <a:xfrm>
            <a:off x="6710859" y="1774421"/>
            <a:ext cx="1380912" cy="73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סוכן למשתמש</a:t>
            </a:r>
            <a:br>
              <a:rPr lang="en-US" sz="1100" dirty="0"/>
            </a:br>
            <a:r>
              <a:rPr lang="he-IL" sz="1100" dirty="0"/>
              <a:t>(הרשמה / התחברות )</a:t>
            </a:r>
            <a:endParaRPr lang="en-IL" sz="1100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B2BF82FA-DFE9-3577-ED41-74DA81F09345}"/>
              </a:ext>
            </a:extLst>
          </p:cNvPr>
          <p:cNvSpPr/>
          <p:nvPr/>
        </p:nvSpPr>
        <p:spPr>
          <a:xfrm>
            <a:off x="5141757" y="1774421"/>
            <a:ext cx="1380912" cy="73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ממשק ניהול</a:t>
            </a:r>
            <a:endParaRPr lang="en-IL" sz="1100" dirty="0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F2C03929-BF51-88AE-2890-5D77E549A649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7401315" y="1437273"/>
            <a:ext cx="1569102" cy="337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F0556637-CE15-CDA3-E87C-CDD0D64868DA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7401315" y="1437273"/>
            <a:ext cx="0" cy="337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FCC9EAE7-90B4-17ED-A39E-342C084C4DE1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>
            <a:off x="6522669" y="2140633"/>
            <a:ext cx="1881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מלבן 13">
            <a:extLst>
              <a:ext uri="{FF2B5EF4-FFF2-40B4-BE49-F238E27FC236}">
                <a16:creationId xmlns:a16="http://schemas.microsoft.com/office/drawing/2014/main" id="{8BF4699C-D005-9F61-CE3D-4DE3E4A4D51F}"/>
              </a:ext>
            </a:extLst>
          </p:cNvPr>
          <p:cNvSpPr/>
          <p:nvPr/>
        </p:nvSpPr>
        <p:spPr>
          <a:xfrm>
            <a:off x="3548495" y="2669604"/>
            <a:ext cx="1380912" cy="73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סוכן ניהול מידע</a:t>
            </a:r>
            <a:br>
              <a:rPr lang="en-US" sz="1100" dirty="0"/>
            </a:br>
            <a:r>
              <a:rPr lang="he-IL" sz="1100" dirty="0"/>
              <a:t>(שימוש / עלויות / פניות)</a:t>
            </a:r>
            <a:endParaRPr lang="en-IL" sz="1100" dirty="0"/>
          </a:p>
        </p:txBody>
      </p: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88041AD9-EB3A-55CD-D475-10CAF227A1B4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4238951" y="2506844"/>
            <a:ext cx="1593262" cy="16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מלבן 17">
            <a:extLst>
              <a:ext uri="{FF2B5EF4-FFF2-40B4-BE49-F238E27FC236}">
                <a16:creationId xmlns:a16="http://schemas.microsoft.com/office/drawing/2014/main" id="{C6AD3848-24D1-1641-DED5-0C24051B1D77}"/>
              </a:ext>
            </a:extLst>
          </p:cNvPr>
          <p:cNvSpPr/>
          <p:nvPr/>
        </p:nvSpPr>
        <p:spPr>
          <a:xfrm>
            <a:off x="1979393" y="2669604"/>
            <a:ext cx="1380912" cy="73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סוכן סטטיסטיקות</a:t>
            </a:r>
            <a:endParaRPr lang="en-IL" sz="1100" dirty="0"/>
          </a:p>
        </p:txBody>
      </p:sp>
      <p:cxnSp>
        <p:nvCxnSpPr>
          <p:cNvPr id="20" name="מחבר חץ ישר 19">
            <a:extLst>
              <a:ext uri="{FF2B5EF4-FFF2-40B4-BE49-F238E27FC236}">
                <a16:creationId xmlns:a16="http://schemas.microsoft.com/office/drawing/2014/main" id="{06E2F7EB-4D48-6266-35BC-F7503789773F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flipH="1">
            <a:off x="2669848" y="2506844"/>
            <a:ext cx="3162364" cy="16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מלבן 22">
            <a:extLst>
              <a:ext uri="{FF2B5EF4-FFF2-40B4-BE49-F238E27FC236}">
                <a16:creationId xmlns:a16="http://schemas.microsoft.com/office/drawing/2014/main" id="{BD7964C2-46CE-C280-F04B-3FCC303EB3DA}"/>
              </a:ext>
            </a:extLst>
          </p:cNvPr>
          <p:cNvSpPr/>
          <p:nvPr/>
        </p:nvSpPr>
        <p:spPr>
          <a:xfrm>
            <a:off x="5129041" y="2675417"/>
            <a:ext cx="1380912" cy="73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סוכנים נוספים</a:t>
            </a:r>
            <a:endParaRPr lang="en-IL" sz="1100" dirty="0"/>
          </a:p>
        </p:txBody>
      </p: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8CE552EC-49A2-3570-3E97-153E80ED1BF9}"/>
              </a:ext>
            </a:extLst>
          </p:cNvPr>
          <p:cNvCxnSpPr>
            <a:stCxn id="7" idx="2"/>
            <a:endCxn id="23" idx="0"/>
          </p:cNvCxnSpPr>
          <p:nvPr/>
        </p:nvCxnSpPr>
        <p:spPr>
          <a:xfrm flipH="1">
            <a:off x="5819497" y="2506844"/>
            <a:ext cx="12716" cy="168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מלבן 25">
            <a:extLst>
              <a:ext uri="{FF2B5EF4-FFF2-40B4-BE49-F238E27FC236}">
                <a16:creationId xmlns:a16="http://schemas.microsoft.com/office/drawing/2014/main" id="{1934CE01-92F7-4A4F-506F-09935841394E}"/>
              </a:ext>
            </a:extLst>
          </p:cNvPr>
          <p:cNvSpPr/>
          <p:nvPr/>
        </p:nvSpPr>
        <p:spPr>
          <a:xfrm>
            <a:off x="9849063" y="1774421"/>
            <a:ext cx="1380912" cy="73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סוכן למתכנת</a:t>
            </a:r>
            <a:br>
              <a:rPr lang="en-US" sz="1100" dirty="0"/>
            </a:br>
            <a:r>
              <a:rPr lang="he-IL" sz="1100" dirty="0"/>
              <a:t>(</a:t>
            </a:r>
            <a:r>
              <a:rPr lang="en-US" sz="1100" dirty="0"/>
              <a:t>docs</a:t>
            </a:r>
            <a:r>
              <a:rPr lang="he-IL" sz="1100" dirty="0"/>
              <a:t>)</a:t>
            </a:r>
            <a:endParaRPr lang="en-IL" sz="1100" dirty="0"/>
          </a:p>
        </p:txBody>
      </p:sp>
      <p:cxnSp>
        <p:nvCxnSpPr>
          <p:cNvPr id="28" name="מחבר חץ ישר 27">
            <a:extLst>
              <a:ext uri="{FF2B5EF4-FFF2-40B4-BE49-F238E27FC236}">
                <a16:creationId xmlns:a16="http://schemas.microsoft.com/office/drawing/2014/main" id="{DFF0F161-4C50-9B89-1BE3-65C53E06996D}"/>
              </a:ext>
            </a:extLst>
          </p:cNvPr>
          <p:cNvCxnSpPr>
            <a:stCxn id="3" idx="2"/>
            <a:endCxn id="26" idx="0"/>
          </p:cNvCxnSpPr>
          <p:nvPr/>
        </p:nvCxnSpPr>
        <p:spPr>
          <a:xfrm>
            <a:off x="7401315" y="1437273"/>
            <a:ext cx="3138204" cy="337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8F83E532-35E7-7D06-E6BD-2F4D765EF5B4}"/>
              </a:ext>
            </a:extLst>
          </p:cNvPr>
          <p:cNvSpPr txBox="1"/>
          <p:nvPr/>
        </p:nvSpPr>
        <p:spPr>
          <a:xfrm>
            <a:off x="9738438" y="2506844"/>
            <a:ext cx="148009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100" dirty="0"/>
              <a:t>מדריך להתחלה</a:t>
            </a:r>
            <a:br>
              <a:rPr lang="en-US" sz="1100" dirty="0"/>
            </a:br>
            <a:r>
              <a:rPr lang="he-IL" sz="1100" dirty="0"/>
              <a:t>מענה לשאלות ספציפיות</a:t>
            </a:r>
          </a:p>
          <a:p>
            <a:endParaRPr lang="he-IL" sz="1100" dirty="0"/>
          </a:p>
          <a:p>
            <a:r>
              <a:rPr lang="he-IL" sz="1100" dirty="0"/>
              <a:t>דף זה מאפשר שיחה עם סוכן</a:t>
            </a:r>
            <a:br>
              <a:rPr lang="en-US" sz="1100" dirty="0"/>
            </a:br>
            <a:r>
              <a:rPr lang="he-IL" sz="1100" dirty="0"/>
              <a:t>המסייע למתכנת להתחיל עם המערכת</a:t>
            </a:r>
            <a:endParaRPr lang="en-IL" sz="1100" dirty="0"/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FB18E830-C66A-046B-AB81-BF022DDD8B30}"/>
              </a:ext>
            </a:extLst>
          </p:cNvPr>
          <p:cNvSpPr txBox="1"/>
          <p:nvPr/>
        </p:nvSpPr>
        <p:spPr>
          <a:xfrm>
            <a:off x="8218926" y="2506844"/>
            <a:ext cx="14800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100" dirty="0"/>
              <a:t>מדריך להתחלה</a:t>
            </a:r>
            <a:br>
              <a:rPr lang="en-US" sz="1100" dirty="0"/>
            </a:br>
            <a:r>
              <a:rPr lang="he-IL" sz="1100" dirty="0"/>
              <a:t>מענה לשאלות ספציפיות</a:t>
            </a:r>
          </a:p>
          <a:p>
            <a:endParaRPr lang="he-IL" sz="1100" dirty="0"/>
          </a:p>
          <a:p>
            <a:r>
              <a:rPr lang="he-IL" sz="1100" dirty="0"/>
              <a:t>דף זה מאפשר שיחה עם סוכן</a:t>
            </a:r>
            <a:br>
              <a:rPr lang="en-US" sz="1100" dirty="0"/>
            </a:br>
            <a:r>
              <a:rPr lang="he-IL" sz="1100" dirty="0"/>
              <a:t>המסייע למשתמש רגיל ליצור חשבון ולהשתמש בו</a:t>
            </a:r>
            <a:endParaRPr lang="en-IL" sz="1100" dirty="0"/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F918AA2C-2A26-1F40-4AFA-75B310CD2D77}"/>
              </a:ext>
            </a:extLst>
          </p:cNvPr>
          <p:cNvSpPr/>
          <p:nvPr/>
        </p:nvSpPr>
        <p:spPr>
          <a:xfrm>
            <a:off x="448437" y="2669604"/>
            <a:ext cx="1380912" cy="73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ניהול </a:t>
            </a:r>
            <a:r>
              <a:rPr lang="en-US" sz="1100" dirty="0"/>
              <a:t>docs</a:t>
            </a:r>
            <a:endParaRPr lang="en-IL" sz="1100" dirty="0"/>
          </a:p>
        </p:txBody>
      </p:sp>
      <p:cxnSp>
        <p:nvCxnSpPr>
          <p:cNvPr id="39" name="מחבר חץ ישר 38">
            <a:extLst>
              <a:ext uri="{FF2B5EF4-FFF2-40B4-BE49-F238E27FC236}">
                <a16:creationId xmlns:a16="http://schemas.microsoft.com/office/drawing/2014/main" id="{D2CFAE41-CBD2-105C-48AE-2CC474C5CC29}"/>
              </a:ext>
            </a:extLst>
          </p:cNvPr>
          <p:cNvCxnSpPr>
            <a:stCxn id="7" idx="2"/>
            <a:endCxn id="37" idx="0"/>
          </p:cNvCxnSpPr>
          <p:nvPr/>
        </p:nvCxnSpPr>
        <p:spPr>
          <a:xfrm flipH="1">
            <a:off x="1138893" y="2506844"/>
            <a:ext cx="4693320" cy="162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תיבת טקסט 42">
            <a:extLst>
              <a:ext uri="{FF2B5EF4-FFF2-40B4-BE49-F238E27FC236}">
                <a16:creationId xmlns:a16="http://schemas.microsoft.com/office/drawing/2014/main" id="{0BD88DEE-0E7D-16E6-4A05-6D89665EA327}"/>
              </a:ext>
            </a:extLst>
          </p:cNvPr>
          <p:cNvSpPr txBox="1"/>
          <p:nvPr/>
        </p:nvSpPr>
        <p:spPr>
          <a:xfrm>
            <a:off x="6599280" y="2580276"/>
            <a:ext cx="148009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100" dirty="0"/>
              <a:t>הרשמה </a:t>
            </a:r>
            <a:r>
              <a:rPr lang="he-IL" sz="1100" dirty="0" err="1"/>
              <a:t>ע''י</a:t>
            </a:r>
            <a:r>
              <a:rPr lang="he-IL" sz="1100" dirty="0"/>
              <a:t> מסירת פרטים או הקלדה שלהם.</a:t>
            </a:r>
          </a:p>
          <a:p>
            <a:endParaRPr lang="he-IL" sz="1100" dirty="0"/>
          </a:p>
          <a:p>
            <a:r>
              <a:rPr lang="he-IL" sz="1100" dirty="0"/>
              <a:t>כניסה עם מייל וסיסמא</a:t>
            </a:r>
            <a:br>
              <a:rPr lang="en-US" sz="1100" dirty="0"/>
            </a:br>
            <a:r>
              <a:rPr lang="he-IL" sz="1100" dirty="0"/>
              <a:t>או דרך גוגל.</a:t>
            </a:r>
          </a:p>
          <a:p>
            <a:endParaRPr lang="he-IL" sz="1100" dirty="0"/>
          </a:p>
        </p:txBody>
      </p:sp>
      <p:sp>
        <p:nvSpPr>
          <p:cNvPr id="44" name="מלבן 43">
            <a:extLst>
              <a:ext uri="{FF2B5EF4-FFF2-40B4-BE49-F238E27FC236}">
                <a16:creationId xmlns:a16="http://schemas.microsoft.com/office/drawing/2014/main" id="{32F0E738-A3AC-70F5-4FAD-966C6681D3E9}"/>
              </a:ext>
            </a:extLst>
          </p:cNvPr>
          <p:cNvSpPr/>
          <p:nvPr/>
        </p:nvSpPr>
        <p:spPr>
          <a:xfrm>
            <a:off x="6671440" y="4940961"/>
            <a:ext cx="1380912" cy="1277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 err="1"/>
              <a:t>איזור</a:t>
            </a:r>
            <a:r>
              <a:rPr lang="he-IL" sz="1100" dirty="0"/>
              <a:t> אישי </a:t>
            </a:r>
            <a:br>
              <a:rPr lang="en-US" sz="1100" dirty="0"/>
            </a:br>
            <a:r>
              <a:rPr lang="he-IL" sz="1100" dirty="0"/>
              <a:t>(</a:t>
            </a:r>
            <a:r>
              <a:rPr lang="en-US" sz="1100" dirty="0"/>
              <a:t>dashboard</a:t>
            </a:r>
            <a:r>
              <a:rPr lang="he-IL" sz="1100" dirty="0"/>
              <a:t>)</a:t>
            </a:r>
            <a:br>
              <a:rPr lang="en-US" sz="1100" dirty="0"/>
            </a:br>
            <a:r>
              <a:rPr lang="he-IL" sz="1100" dirty="0"/>
              <a:t>מפתחות / שימוש / תשלום / סוכן מידע (פניות / תשלומים / היסטוריית שימוש / מדריך פרטני)</a:t>
            </a:r>
            <a:endParaRPr lang="en-IL" sz="1100" dirty="0"/>
          </a:p>
        </p:txBody>
      </p:sp>
      <p:cxnSp>
        <p:nvCxnSpPr>
          <p:cNvPr id="50" name="מחבר חץ ישר 49">
            <a:extLst>
              <a:ext uri="{FF2B5EF4-FFF2-40B4-BE49-F238E27FC236}">
                <a16:creationId xmlns:a16="http://schemas.microsoft.com/office/drawing/2014/main" id="{BEBE3C1E-A950-4892-E3FD-3115F622E2FB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400043" y="2506844"/>
            <a:ext cx="1272" cy="1550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מלבן 52">
            <a:extLst>
              <a:ext uri="{FF2B5EF4-FFF2-40B4-BE49-F238E27FC236}">
                <a16:creationId xmlns:a16="http://schemas.microsoft.com/office/drawing/2014/main" id="{F2A9AE49-BDC5-20F2-9DA0-E8F2E2313EF9}"/>
              </a:ext>
            </a:extLst>
          </p:cNvPr>
          <p:cNvSpPr/>
          <p:nvPr/>
        </p:nvSpPr>
        <p:spPr>
          <a:xfrm>
            <a:off x="6671440" y="4057650"/>
            <a:ext cx="1380912" cy="467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בחירת פרופיל</a:t>
            </a:r>
          </a:p>
        </p:txBody>
      </p:sp>
      <p:cxnSp>
        <p:nvCxnSpPr>
          <p:cNvPr id="54" name="מחבר חץ ישר 53">
            <a:extLst>
              <a:ext uri="{FF2B5EF4-FFF2-40B4-BE49-F238E27FC236}">
                <a16:creationId xmlns:a16="http://schemas.microsoft.com/office/drawing/2014/main" id="{17170DFD-8ACE-5C08-9DD3-AA444CE73C06}"/>
              </a:ext>
            </a:extLst>
          </p:cNvPr>
          <p:cNvCxnSpPr>
            <a:cxnSpLocks/>
          </p:cNvCxnSpPr>
          <p:nvPr/>
        </p:nvCxnSpPr>
        <p:spPr>
          <a:xfrm flipH="1">
            <a:off x="7333604" y="1307418"/>
            <a:ext cx="1272" cy="1550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מחבר חץ ישר 55">
            <a:extLst>
              <a:ext uri="{FF2B5EF4-FFF2-40B4-BE49-F238E27FC236}">
                <a16:creationId xmlns:a16="http://schemas.microsoft.com/office/drawing/2014/main" id="{1848BE9F-BB11-E8A0-02C7-36FFD1256C9D}"/>
              </a:ext>
            </a:extLst>
          </p:cNvPr>
          <p:cNvCxnSpPr>
            <a:stCxn id="53" idx="2"/>
            <a:endCxn id="44" idx="0"/>
          </p:cNvCxnSpPr>
          <p:nvPr/>
        </p:nvCxnSpPr>
        <p:spPr>
          <a:xfrm>
            <a:off x="7361896" y="4524652"/>
            <a:ext cx="0" cy="416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מלבן 58">
            <a:extLst>
              <a:ext uri="{FF2B5EF4-FFF2-40B4-BE49-F238E27FC236}">
                <a16:creationId xmlns:a16="http://schemas.microsoft.com/office/drawing/2014/main" id="{1B1B3A60-1451-0A30-E476-C998C260C06C}"/>
              </a:ext>
            </a:extLst>
          </p:cNvPr>
          <p:cNvSpPr/>
          <p:nvPr/>
        </p:nvSpPr>
        <p:spPr>
          <a:xfrm>
            <a:off x="4830105" y="4057650"/>
            <a:ext cx="1380912" cy="467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100" dirty="0"/>
              <a:t>הצגת מפתח</a:t>
            </a:r>
            <a:endParaRPr lang="en-IL" sz="1100" dirty="0"/>
          </a:p>
        </p:txBody>
      </p:sp>
      <p:cxnSp>
        <p:nvCxnSpPr>
          <p:cNvPr id="61" name="מחבר חץ ישר 60">
            <a:extLst>
              <a:ext uri="{FF2B5EF4-FFF2-40B4-BE49-F238E27FC236}">
                <a16:creationId xmlns:a16="http://schemas.microsoft.com/office/drawing/2014/main" id="{1AEB8C92-0CB6-60B4-970C-B75F43AFDD1A}"/>
              </a:ext>
            </a:extLst>
          </p:cNvPr>
          <p:cNvCxnSpPr>
            <a:stCxn id="53" idx="1"/>
            <a:endCxn id="59" idx="3"/>
          </p:cNvCxnSpPr>
          <p:nvPr/>
        </p:nvCxnSpPr>
        <p:spPr>
          <a:xfrm flipH="1">
            <a:off x="6211017" y="4291151"/>
            <a:ext cx="4604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78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3C424602-12A9-984D-FCA0-4F116CFA3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154" y="218942"/>
            <a:ext cx="4953691" cy="1905266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2EB044EC-06CA-E2CE-FB2C-E9738546B2BF}"/>
              </a:ext>
            </a:extLst>
          </p:cNvPr>
          <p:cNvSpPr/>
          <p:nvPr/>
        </p:nvSpPr>
        <p:spPr>
          <a:xfrm>
            <a:off x="7886700" y="2824663"/>
            <a:ext cx="1380912" cy="7324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לאורח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7E8FD400-184C-9BB3-0B05-590C09278687}"/>
              </a:ext>
            </a:extLst>
          </p:cNvPr>
          <p:cNvSpPr/>
          <p:nvPr/>
        </p:nvSpPr>
        <p:spPr>
          <a:xfrm>
            <a:off x="6095999" y="2824659"/>
            <a:ext cx="1380912" cy="7324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למפתח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231A41FD-C7A7-008D-3292-D0D95A86A580}"/>
              </a:ext>
            </a:extLst>
          </p:cNvPr>
          <p:cNvSpPr/>
          <p:nvPr/>
        </p:nvSpPr>
        <p:spPr>
          <a:xfrm>
            <a:off x="2723654" y="2824659"/>
            <a:ext cx="2962558" cy="73242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לכניסה למערכת &gt;&gt;&gt;</a:t>
            </a:r>
            <a:endParaRPr lang="en-IL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17625149-4F00-6D22-6F1A-640C2271D8C6}"/>
              </a:ext>
            </a:extLst>
          </p:cNvPr>
          <p:cNvSpPr txBox="1"/>
          <p:nvPr/>
        </p:nvSpPr>
        <p:spPr>
          <a:xfrm>
            <a:off x="9637518" y="3819391"/>
            <a:ext cx="151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לוג פעילות </a:t>
            </a:r>
            <a:endParaRPr lang="en-IL" sz="20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A947E15-4587-F731-1151-912198D71CA9}"/>
              </a:ext>
            </a:extLst>
          </p:cNvPr>
          <p:cNvSpPr txBox="1"/>
          <p:nvPr/>
        </p:nvSpPr>
        <p:spPr>
          <a:xfrm>
            <a:off x="9522768" y="4629016"/>
            <a:ext cx="1619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מילון מונחים</a:t>
            </a:r>
            <a:endParaRPr lang="en-IL" sz="20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E446D4B0-C6BF-2813-B194-3C35CFC0ED57}"/>
              </a:ext>
            </a:extLst>
          </p:cNvPr>
          <p:cNvSpPr txBox="1"/>
          <p:nvPr/>
        </p:nvSpPr>
        <p:spPr>
          <a:xfrm>
            <a:off x="7398789" y="5438641"/>
            <a:ext cx="3743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&gt;&gt;&gt; לא איבדנו את הצפון &lt;&lt;&lt;</a:t>
            </a:r>
            <a:endParaRPr lang="en-IL" sz="20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42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A95688CF-2A3E-41E5-4F65-BF34DE7D264F}"/>
              </a:ext>
            </a:extLst>
          </p:cNvPr>
          <p:cNvGrpSpPr/>
          <p:nvPr/>
        </p:nvGrpSpPr>
        <p:grpSpPr>
          <a:xfrm>
            <a:off x="11328926" y="123524"/>
            <a:ext cx="609312" cy="998839"/>
            <a:chOff x="11328926" y="123524"/>
            <a:chExt cx="609312" cy="998839"/>
          </a:xfrm>
        </p:grpSpPr>
        <p:grpSp>
          <p:nvGrpSpPr>
            <p:cNvPr id="3" name="קבוצה 2">
              <a:extLst>
                <a:ext uri="{FF2B5EF4-FFF2-40B4-BE49-F238E27FC236}">
                  <a16:creationId xmlns:a16="http://schemas.microsoft.com/office/drawing/2014/main" id="{24D14E9D-9A29-B08D-7A0A-18A893D05AAA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5" name="צורה חופשית: צורה 4">
                <a:extLst>
                  <a:ext uri="{FF2B5EF4-FFF2-40B4-BE49-F238E27FC236}">
                    <a16:creationId xmlns:a16="http://schemas.microsoft.com/office/drawing/2014/main" id="{811B6C19-9C60-88FE-3A1F-AE785315720B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6" name="צורה חופשית: צורה 5">
                <a:extLst>
                  <a:ext uri="{FF2B5EF4-FFF2-40B4-BE49-F238E27FC236}">
                    <a16:creationId xmlns:a16="http://schemas.microsoft.com/office/drawing/2014/main" id="{A170B3F0-A498-8B4C-4F1F-DD04D615E929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40BBD933-D627-C756-DDD9-66B85B6E3CF2}"/>
                </a:ext>
              </a:extLst>
            </p:cNvPr>
            <p:cNvSpPr txBox="1"/>
            <p:nvPr/>
          </p:nvSpPr>
          <p:spPr>
            <a:xfrm>
              <a:off x="11514320" y="238222"/>
              <a:ext cx="37078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  <a:endParaRPr lang="en-IL" sz="4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" name="כותרת 1">
            <a:extLst>
              <a:ext uri="{FF2B5EF4-FFF2-40B4-BE49-F238E27FC236}">
                <a16:creationId xmlns:a16="http://schemas.microsoft.com/office/drawing/2014/main" id="{2B53EC5C-BA6F-4C1B-BDBF-A4B94FA99833}"/>
              </a:ext>
            </a:extLst>
          </p:cNvPr>
          <p:cNvSpPr txBox="1">
            <a:spLocks/>
          </p:cNvSpPr>
          <p:nvPr/>
        </p:nvSpPr>
        <p:spPr>
          <a:xfrm>
            <a:off x="1800225" y="622942"/>
            <a:ext cx="9144000" cy="2387600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מידע לאורח</a:t>
            </a:r>
          </a:p>
          <a:p>
            <a:endParaRPr lang="he-IL" sz="32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SafeAI</a:t>
            </a:r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הוקמה המטרה להניח יסודות לפתרון בטוח לשימוש ב-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</a:t>
            </a:r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שימוש בטוח, מקצועי ונח בלי להתפשר על תו או תג </a:t>
            </a:r>
            <a:r>
              <a:rPr lang="he-IL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מתרי''ג</a:t>
            </a:r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2C2F62E4-948C-ADA8-6261-77DB07451E03}"/>
              </a:ext>
            </a:extLst>
          </p:cNvPr>
          <p:cNvSpPr/>
          <p:nvPr/>
        </p:nvSpPr>
        <p:spPr>
          <a:xfrm>
            <a:off x="8496300" y="3709987"/>
            <a:ext cx="243840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למי מיועדת המערכת?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E7AD049E-4E7D-18B4-5C7F-3A48DE248DC5}"/>
              </a:ext>
            </a:extLst>
          </p:cNvPr>
          <p:cNvSpPr/>
          <p:nvPr/>
        </p:nvSpPr>
        <p:spPr>
          <a:xfrm>
            <a:off x="5862802" y="3709987"/>
            <a:ext cx="243840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כיצד פועל הסינון?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3EE2CD1E-341A-BB1D-F662-071979AECAAB}"/>
              </a:ext>
            </a:extLst>
          </p:cNvPr>
          <p:cNvSpPr/>
          <p:nvPr/>
        </p:nvSpPr>
        <p:spPr>
          <a:xfrm>
            <a:off x="1924051" y="3709987"/>
            <a:ext cx="379095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איך מתחברים ומתחילים להשתמש? 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0E25AC44-6D1F-EA2D-8A98-5CA6DF3E3478}"/>
              </a:ext>
            </a:extLst>
          </p:cNvPr>
          <p:cNvSpPr/>
          <p:nvPr/>
        </p:nvSpPr>
        <p:spPr>
          <a:xfrm>
            <a:off x="8496300" y="4434208"/>
            <a:ext cx="243840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כמה זה עולה?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83E47445-98E2-9A85-BF61-322A6197E3B9}"/>
              </a:ext>
            </a:extLst>
          </p:cNvPr>
          <p:cNvSpPr/>
          <p:nvPr/>
        </p:nvSpPr>
        <p:spPr>
          <a:xfrm>
            <a:off x="5862802" y="4434208"/>
            <a:ext cx="243840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האם זה מתאים לי?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A8FEBB0B-5107-9521-7BE6-B88D51D7B434}"/>
              </a:ext>
            </a:extLst>
          </p:cNvPr>
          <p:cNvSpPr/>
          <p:nvPr/>
        </p:nvSpPr>
        <p:spPr>
          <a:xfrm>
            <a:off x="1695450" y="4434208"/>
            <a:ext cx="4005756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אני רוצה להשאיר הודעה למערכת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605C96BC-1AED-807A-DA08-0D76484E61E6}"/>
              </a:ext>
            </a:extLst>
          </p:cNvPr>
          <p:cNvSpPr/>
          <p:nvPr/>
        </p:nvSpPr>
        <p:spPr>
          <a:xfrm>
            <a:off x="4743450" y="5158429"/>
            <a:ext cx="6200775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שום דבר לא ברור לי. רוצה לעשות סדר במונחים &gt;&gt;&gt;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405B9896-1901-5692-9969-DE92C63B64E2}"/>
              </a:ext>
            </a:extLst>
          </p:cNvPr>
          <p:cNvSpPr/>
          <p:nvPr/>
        </p:nvSpPr>
        <p:spPr>
          <a:xfrm>
            <a:off x="2705100" y="2498092"/>
            <a:ext cx="8162925" cy="5048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צריך עוד הסבר? שאל כאן.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53895E10-23DF-84FD-7676-D34A099B70FB}"/>
              </a:ext>
            </a:extLst>
          </p:cNvPr>
          <p:cNvSpPr/>
          <p:nvPr/>
        </p:nvSpPr>
        <p:spPr>
          <a:xfrm>
            <a:off x="2014538" y="2498092"/>
            <a:ext cx="476250" cy="5048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188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227C-6259-CF15-682C-AF397A06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53140949-734C-E085-8177-0A75355EDD77}"/>
              </a:ext>
            </a:extLst>
          </p:cNvPr>
          <p:cNvGrpSpPr/>
          <p:nvPr/>
        </p:nvGrpSpPr>
        <p:grpSpPr>
          <a:xfrm>
            <a:off x="11328926" y="123524"/>
            <a:ext cx="609312" cy="998839"/>
            <a:chOff x="11328926" y="123524"/>
            <a:chExt cx="609312" cy="998839"/>
          </a:xfrm>
        </p:grpSpPr>
        <p:grpSp>
          <p:nvGrpSpPr>
            <p:cNvPr id="3" name="קבוצה 2">
              <a:extLst>
                <a:ext uri="{FF2B5EF4-FFF2-40B4-BE49-F238E27FC236}">
                  <a16:creationId xmlns:a16="http://schemas.microsoft.com/office/drawing/2014/main" id="{581CD3F0-9D72-1060-F9DF-97039CB46800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5" name="צורה חופשית: צורה 4">
                <a:extLst>
                  <a:ext uri="{FF2B5EF4-FFF2-40B4-BE49-F238E27FC236}">
                    <a16:creationId xmlns:a16="http://schemas.microsoft.com/office/drawing/2014/main" id="{8827FD18-690B-36BA-CDDF-05C400041DBF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6" name="צורה חופשית: צורה 5">
                <a:extLst>
                  <a:ext uri="{FF2B5EF4-FFF2-40B4-BE49-F238E27FC236}">
                    <a16:creationId xmlns:a16="http://schemas.microsoft.com/office/drawing/2014/main" id="{170AB5C5-A783-FA46-5357-2DED71273C3B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914AF6FE-572C-C449-AD14-2DB942F7FFF1}"/>
                </a:ext>
              </a:extLst>
            </p:cNvPr>
            <p:cNvSpPr txBox="1"/>
            <p:nvPr/>
          </p:nvSpPr>
          <p:spPr>
            <a:xfrm>
              <a:off x="11514320" y="238222"/>
              <a:ext cx="37078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  <a:endParaRPr lang="en-IL" sz="4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" name="כותרת 1">
            <a:extLst>
              <a:ext uri="{FF2B5EF4-FFF2-40B4-BE49-F238E27FC236}">
                <a16:creationId xmlns:a16="http://schemas.microsoft.com/office/drawing/2014/main" id="{77D622E4-6F4F-4ACC-4400-1151BC302FF5}"/>
              </a:ext>
            </a:extLst>
          </p:cNvPr>
          <p:cNvSpPr txBox="1">
            <a:spLocks/>
          </p:cNvSpPr>
          <p:nvPr/>
        </p:nvSpPr>
        <p:spPr>
          <a:xfrm>
            <a:off x="822960" y="327667"/>
            <a:ext cx="10111740" cy="2387600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מידע למפתח</a:t>
            </a:r>
          </a:p>
          <a:p>
            <a:endParaRPr lang="he-IL" sz="32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SafeAI</a:t>
            </a:r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מנהלת פרויקטים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open-source</a:t>
            </a:r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במטרה </a:t>
            </a:r>
            <a:r>
              <a:rPr lang="he-IL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להנגיש</a:t>
            </a:r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כמה שיותר מוצרים הנדרשים לפיתוח.</a:t>
            </a: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המטרה הראשונה היא אחידות ואיכות בצורת הסינון.</a:t>
            </a:r>
            <a:b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לצורך כך פותחה ומפותחת לוגיקת סינון שבנויה </a:t>
            </a:r>
            <a:r>
              <a:rPr lang="he-IL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משלושב</a:t>
            </a: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חלקים:</a:t>
            </a: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סינון קלט -&gt;  הנחיות מעצבות התנהגות ל-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LLM</a:t>
            </a: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-&gt; סינון פלט</a:t>
            </a:r>
          </a:p>
          <a:p>
            <a:endParaRPr lang="he-IL" sz="18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e-IL" sz="18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המטרה </a:t>
            </a:r>
            <a:r>
              <a:rPr lang="he-IL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השניה</a:t>
            </a:r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היא מתן האפשרות לחסום כל גישה ישירה ל-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APIs</a:t>
            </a:r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של ספקי הבינה למיניהם. </a:t>
            </a: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לצורך כך פותח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proxy</a:t>
            </a: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סינון המאפשר העברת כל בקשה לספקים הפופולאריים דרך מערכת מפוקחת.</a:t>
            </a:r>
          </a:p>
          <a:p>
            <a:endParaRPr lang="he-IL" sz="18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he-IL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בנוסף פותחו ומפותחים כעת כלי פיתוח ומוצרים שונים:</a:t>
            </a: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SDKs</a:t>
            </a: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, שרתים להרצה מקומית, מערכת לניהול </a:t>
            </a:r>
            <a:r>
              <a:rPr lang="he-IL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פרופילי</a:t>
            </a: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משתמשים,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mcpServers</a:t>
            </a: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וכל חבילה או כלי שנראה שיש לה ביקוש וצורך.</a:t>
            </a: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כלים לסביבות עבודה, צ'אטים מעודכנים</a:t>
            </a:r>
          </a:p>
          <a:p>
            <a:endParaRPr lang="he-IL" sz="18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כל הפרויקטים זמינים כאן:</a:t>
            </a: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he-IL" sz="18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he-IL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המוצרים שזמינים לשימוש:</a:t>
            </a: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9C50086C-C0EB-7A2D-4BD8-2787E9CD6A57}"/>
              </a:ext>
            </a:extLst>
          </p:cNvPr>
          <p:cNvSpPr/>
          <p:nvPr/>
        </p:nvSpPr>
        <p:spPr>
          <a:xfrm>
            <a:off x="8496300" y="8072437"/>
            <a:ext cx="243840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מה זמין כיום במערכת?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75590429-C1C4-7C33-4830-E5B3CD5270C5}"/>
              </a:ext>
            </a:extLst>
          </p:cNvPr>
          <p:cNvSpPr/>
          <p:nvPr/>
        </p:nvSpPr>
        <p:spPr>
          <a:xfrm>
            <a:off x="5862802" y="8072437"/>
            <a:ext cx="243840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כיצד פועל הסינון?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9D1F59C5-8A01-9D9E-5793-3A8233AF2BB8}"/>
              </a:ext>
            </a:extLst>
          </p:cNvPr>
          <p:cNvSpPr/>
          <p:nvPr/>
        </p:nvSpPr>
        <p:spPr>
          <a:xfrm>
            <a:off x="1924051" y="8072437"/>
            <a:ext cx="379095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איך משתמשים </a:t>
            </a:r>
            <a:r>
              <a:rPr lang="he-IL" dirty="0" err="1">
                <a:latin typeface="Segoe UI" panose="020B0502040204020203" pitchFamily="34" charset="0"/>
                <a:cs typeface="Segoe UI" panose="020B0502040204020203" pitchFamily="34" charset="0"/>
              </a:rPr>
              <a:t>בפרוקסי</a:t>
            </a:r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3CF1DD74-A76B-CFF9-F933-BB452B586B85}"/>
              </a:ext>
            </a:extLst>
          </p:cNvPr>
          <p:cNvSpPr/>
          <p:nvPr/>
        </p:nvSpPr>
        <p:spPr>
          <a:xfrm>
            <a:off x="8496300" y="8796658"/>
            <a:ext cx="243840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כיצד יוצרים מפתחות?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070DE396-B2A0-2899-2AB6-362283104D36}"/>
              </a:ext>
            </a:extLst>
          </p:cNvPr>
          <p:cNvSpPr/>
          <p:nvPr/>
        </p:nvSpPr>
        <p:spPr>
          <a:xfrm>
            <a:off x="5862802" y="8796658"/>
            <a:ext cx="2438400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איך משתמשים בצ'אט?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8E706648-B16C-4A70-104B-073FBA68EA38}"/>
              </a:ext>
            </a:extLst>
          </p:cNvPr>
          <p:cNvSpPr/>
          <p:nvPr/>
        </p:nvSpPr>
        <p:spPr>
          <a:xfrm>
            <a:off x="1695450" y="8796658"/>
            <a:ext cx="4005756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אני רוצה להשאיר הודעה למערכת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7DCE9287-3496-192A-587C-5E1C5B444287}"/>
              </a:ext>
            </a:extLst>
          </p:cNvPr>
          <p:cNvSpPr/>
          <p:nvPr/>
        </p:nvSpPr>
        <p:spPr>
          <a:xfrm>
            <a:off x="4743450" y="9520879"/>
            <a:ext cx="6200775" cy="428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שום דבר לא ברור לי. רוצה לעשות סדר במונחים &gt;&gt;&gt;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3808C39A-8F2A-3846-ECD3-15F035C110B5}"/>
              </a:ext>
            </a:extLst>
          </p:cNvPr>
          <p:cNvSpPr/>
          <p:nvPr/>
        </p:nvSpPr>
        <p:spPr>
          <a:xfrm>
            <a:off x="2747631" y="7286625"/>
            <a:ext cx="8162925" cy="5048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יש דבר שצריך עוד הסבר? שאל כאן.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96E636FA-904D-17F5-62E4-209B5CFA6634}"/>
              </a:ext>
            </a:extLst>
          </p:cNvPr>
          <p:cNvSpPr/>
          <p:nvPr/>
        </p:nvSpPr>
        <p:spPr>
          <a:xfrm>
            <a:off x="2057069" y="7286625"/>
            <a:ext cx="476250" cy="5048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8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685E-F3A9-06F2-785B-A2392E4E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D91F25EF-577D-A7BE-213F-632D05AD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970"/>
          <a:stretch>
            <a:fillRect/>
          </a:stretch>
        </p:blipFill>
        <p:spPr>
          <a:xfrm>
            <a:off x="3614389" y="197026"/>
            <a:ext cx="4953691" cy="1258058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AC1FE05D-5560-C17C-8BE0-49E7E73ECC79}"/>
              </a:ext>
            </a:extLst>
          </p:cNvPr>
          <p:cNvSpPr/>
          <p:nvPr/>
        </p:nvSpPr>
        <p:spPr>
          <a:xfrm>
            <a:off x="4614721" y="1828800"/>
            <a:ext cx="2962558" cy="408758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74294671-AF81-9C74-6207-E3A11F2DC732}"/>
              </a:ext>
            </a:extLst>
          </p:cNvPr>
          <p:cNvSpPr/>
          <p:nvPr/>
        </p:nvSpPr>
        <p:spPr>
          <a:xfrm>
            <a:off x="4614721" y="5183963"/>
            <a:ext cx="2962558" cy="73242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כניסה</a:t>
            </a:r>
            <a:endParaRPr lang="en-IL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F2DFAB35-E1F6-2D87-5A3C-5196AE95F8EC}"/>
              </a:ext>
            </a:extLst>
          </p:cNvPr>
          <p:cNvSpPr/>
          <p:nvPr/>
        </p:nvSpPr>
        <p:spPr>
          <a:xfrm>
            <a:off x="4781551" y="2790824"/>
            <a:ext cx="2619375" cy="54292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אימייל</a:t>
            </a:r>
            <a:endParaRPr lang="en-IL" sz="1400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98FDDC2-CA43-F520-4099-27C5C355622F}"/>
              </a:ext>
            </a:extLst>
          </p:cNvPr>
          <p:cNvSpPr/>
          <p:nvPr/>
        </p:nvSpPr>
        <p:spPr>
          <a:xfrm>
            <a:off x="4781551" y="3491278"/>
            <a:ext cx="2619375" cy="54292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סיסמא</a:t>
            </a:r>
            <a:endParaRPr lang="en-IL" sz="1400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64AA3F28-19BF-00E4-7FCD-C97DE7E19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578" y="4257269"/>
            <a:ext cx="2105319" cy="33342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CBDAF8AF-7E5E-766A-2D55-0FA1DF88B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72" y="4761828"/>
            <a:ext cx="924054" cy="333422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CEF28080-6CE3-3D16-2B96-64503D251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578" y="6078904"/>
            <a:ext cx="1771897" cy="362001"/>
          </a:xfrm>
          <a:prstGeom prst="rect">
            <a:avLst/>
          </a:prstGeom>
        </p:spPr>
      </p:pic>
      <p:sp>
        <p:nvSpPr>
          <p:cNvPr id="17" name="מלבן 16">
            <a:extLst>
              <a:ext uri="{FF2B5EF4-FFF2-40B4-BE49-F238E27FC236}">
                <a16:creationId xmlns:a16="http://schemas.microsoft.com/office/drawing/2014/main" id="{A22EB108-D500-DE69-B124-840B9B3ACC78}"/>
              </a:ext>
            </a:extLst>
          </p:cNvPr>
          <p:cNvSpPr/>
          <p:nvPr/>
        </p:nvSpPr>
        <p:spPr>
          <a:xfrm>
            <a:off x="4781546" y="2048356"/>
            <a:ext cx="2619375" cy="542925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b="1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התחברות</a:t>
            </a:r>
            <a:endParaRPr lang="en-IL" b="1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80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B686-588F-EBC9-979E-F99DEC20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584198C9-AE17-0328-D20E-0ED12235C4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970"/>
          <a:stretch>
            <a:fillRect/>
          </a:stretch>
        </p:blipFill>
        <p:spPr>
          <a:xfrm>
            <a:off x="3614385" y="56981"/>
            <a:ext cx="4953691" cy="1258058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D23CA832-ECF6-A967-6FC7-E03254D861AC}"/>
              </a:ext>
            </a:extLst>
          </p:cNvPr>
          <p:cNvSpPr/>
          <p:nvPr/>
        </p:nvSpPr>
        <p:spPr>
          <a:xfrm>
            <a:off x="3933825" y="1876425"/>
            <a:ext cx="4505325" cy="46291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4174C9A9-C227-1CAB-4681-8243820DE3E0}"/>
              </a:ext>
            </a:extLst>
          </p:cNvPr>
          <p:cNvSpPr/>
          <p:nvPr/>
        </p:nvSpPr>
        <p:spPr>
          <a:xfrm>
            <a:off x="4609951" y="5642761"/>
            <a:ext cx="2962558" cy="73242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הרשמה</a:t>
            </a:r>
            <a:endParaRPr lang="en-IL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6201E6A8-7D0A-5B5D-3296-DE0BF34CA85F}"/>
              </a:ext>
            </a:extLst>
          </p:cNvPr>
          <p:cNvSpPr/>
          <p:nvPr/>
        </p:nvSpPr>
        <p:spPr>
          <a:xfrm>
            <a:off x="4781550" y="3076574"/>
            <a:ext cx="2619375" cy="54292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אימייל</a:t>
            </a:r>
            <a:endParaRPr lang="en-IL" sz="1400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4CC2D92-D86F-CBA8-8684-513A65B07282}"/>
              </a:ext>
            </a:extLst>
          </p:cNvPr>
          <p:cNvSpPr/>
          <p:nvPr/>
        </p:nvSpPr>
        <p:spPr>
          <a:xfrm>
            <a:off x="4781546" y="3690835"/>
            <a:ext cx="2619375" cy="54292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סיסמא</a:t>
            </a:r>
            <a:endParaRPr lang="en-IL" sz="1400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B16B6544-B9F4-5FB2-C1D7-489CC2B2E072}"/>
              </a:ext>
            </a:extLst>
          </p:cNvPr>
          <p:cNvSpPr/>
          <p:nvPr/>
        </p:nvSpPr>
        <p:spPr>
          <a:xfrm>
            <a:off x="4781546" y="1965551"/>
            <a:ext cx="2619375" cy="542925"/>
          </a:xfrm>
          <a:prstGeom prst="rect">
            <a:avLst/>
          </a:prstGeom>
          <a:noFill/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b="1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הרשמה</a:t>
            </a:r>
            <a:endParaRPr lang="en-IL" b="1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ABE37835-E49B-606D-77AF-840117266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128"/>
          <a:stretch>
            <a:fillRect/>
          </a:stretch>
        </p:blipFill>
        <p:spPr>
          <a:xfrm>
            <a:off x="5271789" y="6553842"/>
            <a:ext cx="1667108" cy="365079"/>
          </a:xfrm>
          <a:prstGeom prst="rect">
            <a:avLst/>
          </a:prstGeom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88FA7E97-0DD5-0C1F-9CC6-938201F4BB12}"/>
              </a:ext>
            </a:extLst>
          </p:cNvPr>
          <p:cNvSpPr/>
          <p:nvPr/>
        </p:nvSpPr>
        <p:spPr>
          <a:xfrm>
            <a:off x="4795656" y="2454884"/>
            <a:ext cx="2619375" cy="54292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שם מלא</a:t>
            </a:r>
            <a:endParaRPr lang="en-IL" sz="1400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D5242A56-9906-14BF-5A2F-9752938B2FB7}"/>
              </a:ext>
            </a:extLst>
          </p:cNvPr>
          <p:cNvSpPr/>
          <p:nvPr/>
        </p:nvSpPr>
        <p:spPr>
          <a:xfrm>
            <a:off x="4781545" y="4273143"/>
            <a:ext cx="2619375" cy="54292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אימות סיסמא</a:t>
            </a:r>
            <a:endParaRPr lang="en-IL" sz="1400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FEB08E5D-0632-44B0-CE8C-9C5A443BDEB1}"/>
              </a:ext>
            </a:extLst>
          </p:cNvPr>
          <p:cNvSpPr/>
          <p:nvPr/>
        </p:nvSpPr>
        <p:spPr>
          <a:xfrm>
            <a:off x="4781544" y="4883822"/>
            <a:ext cx="2619375" cy="54292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מצב שימוש </a:t>
            </a:r>
            <a:r>
              <a:rPr lang="en-US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</a:t>
            </a:r>
            <a:endParaRPr lang="en-IL" sz="1400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EB8712A4-7EC7-0316-ADC9-909667CDDC31}"/>
              </a:ext>
            </a:extLst>
          </p:cNvPr>
          <p:cNvSpPr txBox="1"/>
          <p:nvPr/>
        </p:nvSpPr>
        <p:spPr>
          <a:xfrm>
            <a:off x="3043230" y="53678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buNone/>
            </a:pPr>
            <a:r>
              <a:rPr lang="he-IL" sz="12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</a:rPr>
              <a:t>בהרשמה אתם מסכימים לתנאי השימוש ומדיניות הפרטיות שלנו</a:t>
            </a:r>
          </a:p>
          <a:p>
            <a:pPr algn="ctr">
              <a:buNone/>
            </a:pPr>
            <a:br>
              <a:rPr lang="he-IL" sz="1200" dirty="0"/>
            </a:b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1473151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2D894F97-4F43-1D3F-FDD9-07F71BA68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682938"/>
            <a:ext cx="4314825" cy="549212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0C778CDF-AB33-D276-FDF8-903B60E303F0}"/>
              </a:ext>
            </a:extLst>
          </p:cNvPr>
          <p:cNvSpPr/>
          <p:nvPr/>
        </p:nvSpPr>
        <p:spPr>
          <a:xfrm>
            <a:off x="5924550" y="1662113"/>
            <a:ext cx="5048250" cy="58959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70C0593-2CEE-8039-39B6-988FB1534E0D}"/>
              </a:ext>
            </a:extLst>
          </p:cNvPr>
          <p:cNvSpPr txBox="1"/>
          <p:nvPr/>
        </p:nvSpPr>
        <p:spPr>
          <a:xfrm>
            <a:off x="6496204" y="2024062"/>
            <a:ext cx="3911712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 b="1" dirty="0">
                <a:latin typeface="Segoe UI" panose="020B0502040204020203" pitchFamily="34" charset="0"/>
                <a:cs typeface="Segoe UI" panose="020B0502040204020203" pitchFamily="34" charset="0"/>
              </a:rPr>
              <a:t>המשתמש שלך נוצר בהצלחה!</a:t>
            </a:r>
          </a:p>
          <a:p>
            <a:pPr algn="ctr"/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נשאר עוד צעד אחד ואפשר להתחיל.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עליך לבחור פרופיל מהרשימה:</a:t>
            </a:r>
          </a:p>
          <a:p>
            <a:pPr algn="ctr"/>
            <a:endParaRPr lang="he-I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he-I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he-I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he-I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he-I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מתכנת / משתמש בתוכנות צד שלישי?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e-IL" u="sng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שמור את המפתח! </a:t>
            </a:r>
          </a:p>
          <a:p>
            <a:pPr algn="ctr"/>
            <a:endParaRPr lang="he-I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המשך </a:t>
            </a:r>
            <a:r>
              <a:rPr lang="he-IL" dirty="0" err="1">
                <a:latin typeface="Segoe UI" panose="020B0502040204020203" pitchFamily="34" charset="0"/>
                <a:cs typeface="Segoe UI" panose="020B0502040204020203" pitchFamily="34" charset="0"/>
              </a:rPr>
              <a:t>לדאשבורד</a:t>
            </a:r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 &gt;&gt;&gt;</a:t>
            </a:r>
          </a:p>
          <a:p>
            <a:pPr algn="ctr"/>
            <a:endParaRPr lang="he-I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עבור ל-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AI613</a:t>
            </a:r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  ---&gt;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5281FFA0-DB74-BCC9-C31C-B15B26C3BD6C}"/>
              </a:ext>
            </a:extLst>
          </p:cNvPr>
          <p:cNvSpPr/>
          <p:nvPr/>
        </p:nvSpPr>
        <p:spPr>
          <a:xfrm>
            <a:off x="7154588" y="3948112"/>
            <a:ext cx="2619375" cy="54292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פרופיל תכנות סגור </a:t>
            </a:r>
            <a:r>
              <a:rPr lang="en-US" sz="1400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</a:t>
            </a:r>
            <a:endParaRPr lang="en-IL" sz="1400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C76CE80-AF87-B6E8-5E2F-3F2FE24323EF}"/>
              </a:ext>
            </a:extLst>
          </p:cNvPr>
          <p:cNvSpPr/>
          <p:nvPr/>
        </p:nvSpPr>
        <p:spPr>
          <a:xfrm>
            <a:off x="7059055" y="5920504"/>
            <a:ext cx="2962558" cy="3619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המשך </a:t>
            </a:r>
            <a:r>
              <a:rPr lang="he-IL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לדשבורד</a:t>
            </a:r>
            <a:r>
              <a:rPr lang="he-I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&gt;</a:t>
            </a:r>
            <a:endParaRPr lang="en-IL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753994DC-ADF7-2331-4677-690A191A154B}"/>
              </a:ext>
            </a:extLst>
          </p:cNvPr>
          <p:cNvSpPr/>
          <p:nvPr/>
        </p:nvSpPr>
        <p:spPr>
          <a:xfrm>
            <a:off x="7059055" y="6463427"/>
            <a:ext cx="2962558" cy="3619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עבור לצ'אט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AI613</a:t>
            </a:r>
            <a:endParaRPr lang="en-IL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563A3458-6855-B6F6-018D-A6F837DB7639}"/>
              </a:ext>
            </a:extLst>
          </p:cNvPr>
          <p:cNvSpPr/>
          <p:nvPr/>
        </p:nvSpPr>
        <p:spPr>
          <a:xfrm>
            <a:off x="7154588" y="4579144"/>
            <a:ext cx="2619375" cy="36194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שמור</a:t>
            </a:r>
            <a:endParaRPr lang="en-IL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C5C849D9-046B-2553-727B-4C4C6F869E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970"/>
          <a:stretch>
            <a:fillRect/>
          </a:stretch>
        </p:blipFill>
        <p:spPr>
          <a:xfrm>
            <a:off x="5852760" y="110251"/>
            <a:ext cx="4953691" cy="12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17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5D1ECE95-01D3-60C6-DEE1-33BE2824C278}"/>
              </a:ext>
            </a:extLst>
          </p:cNvPr>
          <p:cNvGrpSpPr/>
          <p:nvPr/>
        </p:nvGrpSpPr>
        <p:grpSpPr>
          <a:xfrm>
            <a:off x="11328926" y="123524"/>
            <a:ext cx="609312" cy="998839"/>
            <a:chOff x="11328926" y="123524"/>
            <a:chExt cx="609312" cy="998839"/>
          </a:xfrm>
        </p:grpSpPr>
        <p:grpSp>
          <p:nvGrpSpPr>
            <p:cNvPr id="3" name="קבוצה 2">
              <a:extLst>
                <a:ext uri="{FF2B5EF4-FFF2-40B4-BE49-F238E27FC236}">
                  <a16:creationId xmlns:a16="http://schemas.microsoft.com/office/drawing/2014/main" id="{949749D5-7F0B-D11F-5986-DCE8780F040F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5" name="צורה חופשית: צורה 4">
                <a:extLst>
                  <a:ext uri="{FF2B5EF4-FFF2-40B4-BE49-F238E27FC236}">
                    <a16:creationId xmlns:a16="http://schemas.microsoft.com/office/drawing/2014/main" id="{67EC7E89-901C-09AE-B18E-1FFB49BBACC7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6" name="צורה חופשית: צורה 5">
                <a:extLst>
                  <a:ext uri="{FF2B5EF4-FFF2-40B4-BE49-F238E27FC236}">
                    <a16:creationId xmlns:a16="http://schemas.microsoft.com/office/drawing/2014/main" id="{7EDFE77A-4B4C-244C-4858-05B6562D829F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150DBF97-5D88-95D9-A3BF-951F7459587F}"/>
                </a:ext>
              </a:extLst>
            </p:cNvPr>
            <p:cNvSpPr txBox="1"/>
            <p:nvPr/>
          </p:nvSpPr>
          <p:spPr>
            <a:xfrm>
              <a:off x="11514320" y="238222"/>
              <a:ext cx="37078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  <a:endParaRPr lang="en-IL" sz="4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" name="כותרת 1">
            <a:extLst>
              <a:ext uri="{FF2B5EF4-FFF2-40B4-BE49-F238E27FC236}">
                <a16:creationId xmlns:a16="http://schemas.microsoft.com/office/drawing/2014/main" id="{9DECC97E-CFBD-EF44-5B04-80DC8553F47A}"/>
              </a:ext>
            </a:extLst>
          </p:cNvPr>
          <p:cNvSpPr txBox="1">
            <a:spLocks/>
          </p:cNvSpPr>
          <p:nvPr/>
        </p:nvSpPr>
        <p:spPr>
          <a:xfrm>
            <a:off x="822960" y="327667"/>
            <a:ext cx="10111740" cy="2387600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לוח משתמש</a:t>
            </a:r>
          </a:p>
          <a:p>
            <a:endParaRPr lang="he-IL" sz="32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AB6F6DA9-2BA3-AE2B-3077-171688A57EAC}"/>
              </a:ext>
            </a:extLst>
          </p:cNvPr>
          <p:cNvSpPr/>
          <p:nvPr/>
        </p:nvSpPr>
        <p:spPr>
          <a:xfrm>
            <a:off x="306891" y="238222"/>
            <a:ext cx="1407886" cy="6799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יציאה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EC2A8F1-19F1-B480-8929-4D30DBA2EAAF}"/>
              </a:ext>
            </a:extLst>
          </p:cNvPr>
          <p:cNvSpPr/>
          <p:nvPr/>
        </p:nvSpPr>
        <p:spPr>
          <a:xfrm>
            <a:off x="2606936" y="1711790"/>
            <a:ext cx="9065897" cy="3918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היסטוריית שימוש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BC693D9B-E400-A8AB-D64C-277FB6535C23}"/>
              </a:ext>
            </a:extLst>
          </p:cNvPr>
          <p:cNvSpPr/>
          <p:nvPr/>
        </p:nvSpPr>
        <p:spPr>
          <a:xfrm>
            <a:off x="2612571" y="3021837"/>
            <a:ext cx="9065898" cy="3918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ניהול מפתחות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9AF496D5-AC69-D209-9008-6A21C4CE81E7}"/>
              </a:ext>
            </a:extLst>
          </p:cNvPr>
          <p:cNvSpPr/>
          <p:nvPr/>
        </p:nvSpPr>
        <p:spPr>
          <a:xfrm>
            <a:off x="2606936" y="4222856"/>
            <a:ext cx="9065898" cy="3918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תשלומים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26135C7D-F818-0A48-3BBC-22621C3A6CC9}"/>
              </a:ext>
            </a:extLst>
          </p:cNvPr>
          <p:cNvSpPr/>
          <p:nvPr/>
        </p:nvSpPr>
        <p:spPr>
          <a:xfrm>
            <a:off x="188686" y="1656128"/>
            <a:ext cx="2235200" cy="47620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D930F650-645F-E55D-AE7C-B7E2ECF29CC6}"/>
              </a:ext>
            </a:extLst>
          </p:cNvPr>
          <p:cNvSpPr/>
          <p:nvPr/>
        </p:nvSpPr>
        <p:spPr>
          <a:xfrm>
            <a:off x="1068161" y="5717422"/>
            <a:ext cx="476250" cy="5048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646063DD-A99F-2254-18F5-E12A1EF6E612}"/>
              </a:ext>
            </a:extLst>
          </p:cNvPr>
          <p:cNvSpPr/>
          <p:nvPr/>
        </p:nvSpPr>
        <p:spPr>
          <a:xfrm>
            <a:off x="428735" y="2078766"/>
            <a:ext cx="1783976" cy="28125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צריך לדעת עוד?</a:t>
            </a:r>
          </a:p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 כאן.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1034670-E6BB-F09B-209D-5DC3E017D2A9}"/>
              </a:ext>
            </a:extLst>
          </p:cNvPr>
          <p:cNvSpPr/>
          <p:nvPr/>
        </p:nvSpPr>
        <p:spPr>
          <a:xfrm>
            <a:off x="2633816" y="5489363"/>
            <a:ext cx="9065898" cy="3918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פניות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000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8E682-06DA-CEF4-E25F-4681B8F4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6C06A5A0-8DE9-76C7-7249-45EA813BBD19}"/>
              </a:ext>
            </a:extLst>
          </p:cNvPr>
          <p:cNvGrpSpPr/>
          <p:nvPr/>
        </p:nvGrpSpPr>
        <p:grpSpPr>
          <a:xfrm>
            <a:off x="11328926" y="123524"/>
            <a:ext cx="609312" cy="998839"/>
            <a:chOff x="11328926" y="123524"/>
            <a:chExt cx="609312" cy="998839"/>
          </a:xfrm>
        </p:grpSpPr>
        <p:grpSp>
          <p:nvGrpSpPr>
            <p:cNvPr id="3" name="קבוצה 2">
              <a:extLst>
                <a:ext uri="{FF2B5EF4-FFF2-40B4-BE49-F238E27FC236}">
                  <a16:creationId xmlns:a16="http://schemas.microsoft.com/office/drawing/2014/main" id="{EB267D9F-C508-35AB-5565-217457F5BDB1}"/>
                </a:ext>
              </a:extLst>
            </p:cNvPr>
            <p:cNvGrpSpPr/>
            <p:nvPr/>
          </p:nvGrpSpPr>
          <p:grpSpPr>
            <a:xfrm>
              <a:off x="11328926" y="123524"/>
              <a:ext cx="609312" cy="998839"/>
              <a:chOff x="3426282" y="1664208"/>
              <a:chExt cx="1221587" cy="2002536"/>
            </a:xfrm>
          </p:grpSpPr>
          <p:sp>
            <p:nvSpPr>
              <p:cNvPr id="5" name="צורה חופשית: צורה 4">
                <a:extLst>
                  <a:ext uri="{FF2B5EF4-FFF2-40B4-BE49-F238E27FC236}">
                    <a16:creationId xmlns:a16="http://schemas.microsoft.com/office/drawing/2014/main" id="{2C240C48-9AD7-D020-9985-5A9E315D0425}"/>
                  </a:ext>
                </a:extLst>
              </p:cNvPr>
              <p:cNvSpPr/>
              <p:nvPr/>
            </p:nvSpPr>
            <p:spPr>
              <a:xfrm>
                <a:off x="3904488" y="1664208"/>
                <a:ext cx="743381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6" name="צורה חופשית: צורה 5">
                <a:extLst>
                  <a:ext uri="{FF2B5EF4-FFF2-40B4-BE49-F238E27FC236}">
                    <a16:creationId xmlns:a16="http://schemas.microsoft.com/office/drawing/2014/main" id="{6B9F4663-4DAF-26EB-41B9-86F587FD5315}"/>
                  </a:ext>
                </a:extLst>
              </p:cNvPr>
              <p:cNvSpPr/>
              <p:nvPr/>
            </p:nvSpPr>
            <p:spPr>
              <a:xfrm flipH="1">
                <a:off x="3426282" y="1664208"/>
                <a:ext cx="743382" cy="2002536"/>
              </a:xfrm>
              <a:custGeom>
                <a:avLst/>
                <a:gdLst>
                  <a:gd name="csX0" fmla="*/ 0 w 651941"/>
                  <a:gd name="csY0" fmla="*/ 0 h 2002536"/>
                  <a:gd name="csX1" fmla="*/ 128016 w 651941"/>
                  <a:gd name="csY1" fmla="*/ 274320 h 2002536"/>
                  <a:gd name="csX2" fmla="*/ 594360 w 651941"/>
                  <a:gd name="csY2" fmla="*/ 429768 h 2002536"/>
                  <a:gd name="csX3" fmla="*/ 630936 w 651941"/>
                  <a:gd name="csY3" fmla="*/ 484632 h 2002536"/>
                  <a:gd name="csX4" fmla="*/ 612648 w 651941"/>
                  <a:gd name="csY4" fmla="*/ 804672 h 2002536"/>
                  <a:gd name="csX5" fmla="*/ 612648 w 651941"/>
                  <a:gd name="csY5" fmla="*/ 1325880 h 2002536"/>
                  <a:gd name="csX6" fmla="*/ 73152 w 651941"/>
                  <a:gd name="csY6" fmla="*/ 1856232 h 2002536"/>
                  <a:gd name="csX7" fmla="*/ 73152 w 651941"/>
                  <a:gd name="csY7" fmla="*/ 1856232 h 2002536"/>
                  <a:gd name="csX8" fmla="*/ 45720 w 651941"/>
                  <a:gd name="csY8" fmla="*/ 2002536 h 2002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51941" h="2002536">
                    <a:moveTo>
                      <a:pt x="0" y="0"/>
                    </a:moveTo>
                    <a:cubicBezTo>
                      <a:pt x="14478" y="101346"/>
                      <a:pt x="28956" y="202692"/>
                      <a:pt x="128016" y="274320"/>
                    </a:cubicBezTo>
                    <a:cubicBezTo>
                      <a:pt x="227076" y="345948"/>
                      <a:pt x="510540" y="394716"/>
                      <a:pt x="594360" y="429768"/>
                    </a:cubicBezTo>
                    <a:cubicBezTo>
                      <a:pt x="678180" y="464820"/>
                      <a:pt x="627888" y="422148"/>
                      <a:pt x="630936" y="484632"/>
                    </a:cubicBezTo>
                    <a:cubicBezTo>
                      <a:pt x="633984" y="547116"/>
                      <a:pt x="615696" y="664464"/>
                      <a:pt x="612648" y="804672"/>
                    </a:cubicBezTo>
                    <a:cubicBezTo>
                      <a:pt x="609600" y="944880"/>
                      <a:pt x="702564" y="1150620"/>
                      <a:pt x="612648" y="1325880"/>
                    </a:cubicBezTo>
                    <a:cubicBezTo>
                      <a:pt x="522732" y="1501140"/>
                      <a:pt x="73152" y="1856232"/>
                      <a:pt x="73152" y="1856232"/>
                    </a:cubicBezTo>
                    <a:lnTo>
                      <a:pt x="73152" y="1856232"/>
                    </a:lnTo>
                    <a:lnTo>
                      <a:pt x="45720" y="200253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4798778A-5B65-564F-2A89-F0477B435ABE}"/>
                </a:ext>
              </a:extLst>
            </p:cNvPr>
            <p:cNvSpPr txBox="1"/>
            <p:nvPr/>
          </p:nvSpPr>
          <p:spPr>
            <a:xfrm>
              <a:off x="11514320" y="238222"/>
              <a:ext cx="37078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  <a:endParaRPr lang="en-IL" sz="4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" name="כותרת 1">
            <a:extLst>
              <a:ext uri="{FF2B5EF4-FFF2-40B4-BE49-F238E27FC236}">
                <a16:creationId xmlns:a16="http://schemas.microsoft.com/office/drawing/2014/main" id="{0A2FAB10-DB80-C6D9-E7B5-131468E3CBE5}"/>
              </a:ext>
            </a:extLst>
          </p:cNvPr>
          <p:cNvSpPr txBox="1">
            <a:spLocks/>
          </p:cNvSpPr>
          <p:nvPr/>
        </p:nvSpPr>
        <p:spPr>
          <a:xfrm>
            <a:off x="822960" y="327667"/>
            <a:ext cx="10111740" cy="2387600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ממשק ניהול</a:t>
            </a:r>
          </a:p>
          <a:p>
            <a:endParaRPr lang="he-IL" sz="32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e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L" sz="18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E6FD24E6-FA37-87AA-EC5F-66724B89804A}"/>
              </a:ext>
            </a:extLst>
          </p:cNvPr>
          <p:cNvSpPr/>
          <p:nvPr/>
        </p:nvSpPr>
        <p:spPr>
          <a:xfrm>
            <a:off x="306891" y="238222"/>
            <a:ext cx="1407886" cy="6799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יציאה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660C6C8D-6B82-36E4-CF17-2A75409876B0}"/>
              </a:ext>
            </a:extLst>
          </p:cNvPr>
          <p:cNvSpPr/>
          <p:nvPr/>
        </p:nvSpPr>
        <p:spPr>
          <a:xfrm>
            <a:off x="2606936" y="1711790"/>
            <a:ext cx="9065897" cy="3918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ניהול פרופילים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73327125-BBEF-9694-18A7-671059F50803}"/>
              </a:ext>
            </a:extLst>
          </p:cNvPr>
          <p:cNvSpPr/>
          <p:nvPr/>
        </p:nvSpPr>
        <p:spPr>
          <a:xfrm>
            <a:off x="2612571" y="3021837"/>
            <a:ext cx="9065898" cy="3918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ניהול משתמשים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7C99DBB1-1B36-FAE6-2935-B80633A15D04}"/>
              </a:ext>
            </a:extLst>
          </p:cNvPr>
          <p:cNvSpPr/>
          <p:nvPr/>
        </p:nvSpPr>
        <p:spPr>
          <a:xfrm>
            <a:off x="2606936" y="4222856"/>
            <a:ext cx="9065898" cy="3918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מעקב פעילות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269EA7C7-4651-4696-79D5-4779FFEC0C74}"/>
              </a:ext>
            </a:extLst>
          </p:cNvPr>
          <p:cNvSpPr/>
          <p:nvPr/>
        </p:nvSpPr>
        <p:spPr>
          <a:xfrm>
            <a:off x="188686" y="1656128"/>
            <a:ext cx="2235200" cy="47620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933CF3FC-EE99-CFD9-11EE-069BFAEFBF9A}"/>
              </a:ext>
            </a:extLst>
          </p:cNvPr>
          <p:cNvSpPr/>
          <p:nvPr/>
        </p:nvSpPr>
        <p:spPr>
          <a:xfrm>
            <a:off x="1068161" y="5717422"/>
            <a:ext cx="476250" cy="5048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339402EC-2DEF-18BC-85E9-0E77BEC4244F}"/>
              </a:ext>
            </a:extLst>
          </p:cNvPr>
          <p:cNvSpPr/>
          <p:nvPr/>
        </p:nvSpPr>
        <p:spPr>
          <a:xfrm>
            <a:off x="428735" y="2078766"/>
            <a:ext cx="1783976" cy="28125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צריך לדעת עוד?</a:t>
            </a:r>
          </a:p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ctr"/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שאל כאן.</a:t>
            </a:r>
            <a:endParaRPr lang="en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15C81343-C739-1E01-53A2-CCC76E295A44}"/>
              </a:ext>
            </a:extLst>
          </p:cNvPr>
          <p:cNvSpPr/>
          <p:nvPr/>
        </p:nvSpPr>
        <p:spPr>
          <a:xfrm>
            <a:off x="2633816" y="5489363"/>
            <a:ext cx="9065898" cy="3918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Segoe UI" panose="020B0502040204020203" pitchFamily="34" charset="0"/>
                <a:cs typeface="Segoe UI" panose="020B0502040204020203" pitchFamily="34" charset="0"/>
              </a:rPr>
              <a:t>פניות</a:t>
            </a:r>
            <a:endParaRPr lang="en-I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5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B8470B0-4F0E-E81C-97B8-893DBCEB1680}"/>
              </a:ext>
            </a:extLst>
          </p:cNvPr>
          <p:cNvSpPr txBox="1"/>
          <p:nvPr/>
        </p:nvSpPr>
        <p:spPr>
          <a:xfrm>
            <a:off x="5368662" y="1291771"/>
            <a:ext cx="40511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מה הכי דחוף?</a:t>
            </a:r>
            <a:br>
              <a:rPr lang="en-US" dirty="0"/>
            </a:br>
            <a:r>
              <a:rPr lang="he-IL" dirty="0"/>
              <a:t>לסיים את זרימת המסכים של המשתמש.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שיראה כל מה שהוא צריך.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להוסיף הגבלת שימוש.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לפרוש.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לחבר </a:t>
            </a:r>
            <a:r>
              <a:rPr lang="he-IL" dirty="0" err="1"/>
              <a:t>ליברהצ'אט</a:t>
            </a:r>
            <a:r>
              <a:rPr lang="he-I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0024082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3509</TotalTime>
  <Words>545</Words>
  <Application>Microsoft Office PowerPoint</Application>
  <PresentationFormat>מסך רחב</PresentationFormat>
  <Paragraphs>134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Times New Roman</vt:lpstr>
      <vt:lpstr>ערכת נושא Office</vt:lpstr>
      <vt:lpstr>SafeAI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שושנה רויזא טעפ</dc:creator>
  <cp:lastModifiedBy>שושנה רויזא טעפ</cp:lastModifiedBy>
  <cp:revision>2</cp:revision>
  <dcterms:created xsi:type="dcterms:W3CDTF">2026-04-09T18:08:47Z</dcterms:created>
  <dcterms:modified xsi:type="dcterms:W3CDTF">2026-04-12T06:13:21Z</dcterms:modified>
</cp:coreProperties>
</file>